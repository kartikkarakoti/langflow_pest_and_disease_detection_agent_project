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c04e18b9b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bc04e18b9b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c04e18b9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g3bc04e18b9b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c04e18b9b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bc04e18b9b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c04e18b9b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3bc04e18b9b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c04e18b9b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bc04e18b9b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c04e18b9b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g3bc04e18b9b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c04e18b9b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bc04e18b9b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github.com/KartikKarakoti/Langflow_Pest_and_Disease_Detection_Agent_Project.git" TargetMode="Externa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share.google/9FAS6Z2S32z4MFhzl" TargetMode="External"/><Relationship Id="rId4" Type="http://schemas.openxmlformats.org/officeDocument/2006/relationships/hyperlink" Target="https://youtu.be/uA6sL65UNi4?si=T-5e6e5ES_IKts7U" TargetMode="External"/><Relationship Id="rId5" Type="http://schemas.openxmlformats.org/officeDocument/2006/relationships/hyperlink" Target="https://share.google/lwddWimTRhA4eREAG" TargetMode="External"/><Relationship Id="rId6" Type="http://schemas.openxmlformats.org/officeDocument/2006/relationships/hyperlink" Target="https://share.google/yQPUyApPB35UOG4Bt" TargetMode="External"/><Relationship Id="rId7"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1149350" y="549833"/>
            <a:ext cx="10515600" cy="2852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a:t>Agentic AI Hackathon: Building Intelligent Agents with IBM Granite and LangFlow</a:t>
            </a:r>
            <a:endParaRPr b="1"/>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t/>
            </a:r>
            <a:endParaRPr b="1" i="1"/>
          </a:p>
        </p:txBody>
      </p:sp>
      <p:pic>
        <p:nvPicPr>
          <p:cNvPr id="80" name="Google Shape;80;p12"/>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6" name="Google Shape;86;p13"/>
          <p:cNvSpPr txBox="1"/>
          <p:nvPr/>
        </p:nvSpPr>
        <p:spPr>
          <a:xfrm>
            <a:off x="2095901" y="338625"/>
            <a:ext cx="8845200" cy="2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500"/>
              <a:buFont typeface="Times New Roman"/>
              <a:buNone/>
            </a:pPr>
            <a:r>
              <a:rPr b="1" i="0" lang="en-US" sz="3500" u="none" cap="none" strike="noStrike">
                <a:solidFill>
                  <a:srgbClr val="002060"/>
                </a:solidFill>
                <a:latin typeface="Times New Roman"/>
                <a:ea typeface="Times New Roman"/>
                <a:cs typeface="Times New Roman"/>
                <a:sym typeface="Times New Roman"/>
              </a:rPr>
              <a:t>Name of the </a:t>
            </a:r>
            <a:r>
              <a:rPr b="1" lang="en-US" sz="3500">
                <a:solidFill>
                  <a:srgbClr val="002060"/>
                </a:solidFill>
                <a:latin typeface="Times New Roman"/>
                <a:ea typeface="Times New Roman"/>
                <a:cs typeface="Times New Roman"/>
                <a:sym typeface="Times New Roman"/>
              </a:rPr>
              <a:t>T</a:t>
            </a:r>
            <a:r>
              <a:rPr b="1" i="0" lang="en-US" sz="3500" u="none" cap="none" strike="noStrike">
                <a:solidFill>
                  <a:srgbClr val="002060"/>
                </a:solidFill>
                <a:latin typeface="Times New Roman"/>
                <a:ea typeface="Times New Roman"/>
                <a:cs typeface="Times New Roman"/>
                <a:sym typeface="Times New Roman"/>
              </a:rPr>
              <a:t>eam:  </a:t>
            </a:r>
            <a:r>
              <a:rPr b="1" lang="en-US" sz="3500">
                <a:solidFill>
                  <a:srgbClr val="1F3864"/>
                </a:solidFill>
                <a:latin typeface="Times New Roman"/>
                <a:ea typeface="Times New Roman"/>
                <a:cs typeface="Times New Roman"/>
                <a:sym typeface="Times New Roman"/>
              </a:rPr>
              <a:t>KKR Agentic Allies</a:t>
            </a:r>
            <a:r>
              <a:rPr b="1" i="0" lang="en-US" sz="3500" u="none" cap="none" strike="noStrike">
                <a:solidFill>
                  <a:srgbClr val="00206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87" name="Google Shape;87;p13"/>
          <p:cNvSpPr txBox="1"/>
          <p:nvPr/>
        </p:nvSpPr>
        <p:spPr>
          <a:xfrm>
            <a:off x="2382757" y="1012905"/>
            <a:ext cx="7426500" cy="451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rPr b="1" i="0" lang="en-US" sz="3200" u="none" cap="none" strike="noStrike">
                <a:solidFill>
                  <a:srgbClr val="002060"/>
                </a:solidFill>
                <a:latin typeface="Times New Roman"/>
                <a:ea typeface="Times New Roman"/>
                <a:cs typeface="Times New Roman"/>
                <a:sym typeface="Times New Roman"/>
              </a:rPr>
              <a:t>Details </a:t>
            </a:r>
            <a:r>
              <a:rPr b="1" lang="en-US" sz="3200">
                <a:solidFill>
                  <a:srgbClr val="002060"/>
                </a:solidFill>
                <a:latin typeface="Times New Roman"/>
                <a:ea typeface="Times New Roman"/>
                <a:cs typeface="Times New Roman"/>
                <a:sym typeface="Times New Roman"/>
              </a:rPr>
              <a:t>o</a:t>
            </a:r>
            <a:r>
              <a:rPr b="1" i="0" lang="en-US" sz="3200" u="none" cap="none" strike="noStrike">
                <a:solidFill>
                  <a:srgbClr val="002060"/>
                </a:solidFill>
                <a:latin typeface="Times New Roman"/>
                <a:ea typeface="Times New Roman"/>
                <a:cs typeface="Times New Roman"/>
                <a:sym typeface="Times New Roman"/>
              </a:rPr>
              <a:t>f the Team </a:t>
            </a:r>
            <a:r>
              <a:rPr b="1" lang="en-US" sz="3200">
                <a:solidFill>
                  <a:srgbClr val="002060"/>
                </a:solidFill>
                <a:latin typeface="Times New Roman"/>
                <a:ea typeface="Times New Roman"/>
                <a:cs typeface="Times New Roman"/>
                <a:sym typeface="Times New Roman"/>
              </a:rPr>
              <a:t>M</a:t>
            </a:r>
            <a:r>
              <a:rPr b="1" i="0" lang="en-US" sz="3200" u="none" cap="none" strike="noStrike">
                <a:solidFill>
                  <a:srgbClr val="002060"/>
                </a:solidFill>
                <a:latin typeface="Times New Roman"/>
                <a:ea typeface="Times New Roman"/>
                <a:cs typeface="Times New Roman"/>
                <a:sym typeface="Times New Roman"/>
              </a:rPr>
              <a:t>embers</a:t>
            </a:r>
            <a:endParaRPr b="1" i="0" sz="3200" u="none" cap="none" strike="noStrike">
              <a:solidFill>
                <a:srgbClr val="002060"/>
              </a:solidFill>
              <a:latin typeface="Times New Roman"/>
              <a:ea typeface="Times New Roman"/>
              <a:cs typeface="Times New Roman"/>
              <a:sym typeface="Times New Roman"/>
            </a:endParaRPr>
          </a:p>
        </p:txBody>
      </p:sp>
      <p:pic>
        <p:nvPicPr>
          <p:cNvPr id="88" name="Google Shape;88;p13"/>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pic>
        <p:nvPicPr>
          <p:cNvPr id="89" name="Google Shape;89;p13" title="Screenshot 2026-01-28 104139.png"/>
          <p:cNvPicPr preferRelativeResize="0"/>
          <p:nvPr/>
        </p:nvPicPr>
        <p:blipFill rotWithShape="1">
          <a:blip r:embed="rId4">
            <a:alphaModFix/>
          </a:blip>
          <a:srcRect b="0" l="0" r="0" t="0"/>
          <a:stretch/>
        </p:blipFill>
        <p:spPr>
          <a:xfrm>
            <a:off x="690625" y="1638819"/>
            <a:ext cx="10795800" cy="45022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804675" y="1188725"/>
            <a:ext cx="10898400" cy="526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solidFill>
                  <a:schemeClr val="dk1"/>
                </a:solidFill>
              </a:rPr>
              <a:t>              </a:t>
            </a:r>
            <a:r>
              <a:rPr b="1" lang="en-US">
                <a:solidFill>
                  <a:schemeClr val="dk1"/>
                </a:solidFill>
              </a:rPr>
              <a:t>                                           Intelligent AI System for Pest and Disease Risk Assessment</a:t>
            </a:r>
            <a:endParaRPr b="1">
              <a:solidFill>
                <a:schemeClr val="dk1"/>
              </a:solidFill>
            </a:endParaRPr>
          </a:p>
          <a:p>
            <a:pPr indent="0" lvl="0" marL="0" marR="0" rtl="0" algn="l">
              <a:lnSpc>
                <a:spcPct val="100000"/>
              </a:lnSpc>
              <a:spcBef>
                <a:spcPts val="0"/>
              </a:spcBef>
              <a:spcAft>
                <a:spcPts val="0"/>
              </a:spcAft>
              <a:buNone/>
            </a:pPr>
            <a:r>
              <a:t/>
            </a:r>
            <a:endParaRPr b="1">
              <a:solidFill>
                <a:schemeClr val="dk1"/>
              </a:solidFill>
            </a:endParaRPr>
          </a:p>
          <a:p>
            <a:pPr indent="0" lvl="0" marL="0" marR="0" rtl="0" algn="l">
              <a:lnSpc>
                <a:spcPct val="100000"/>
              </a:lnSpc>
              <a:spcBef>
                <a:spcPts val="0"/>
              </a:spcBef>
              <a:spcAft>
                <a:spcPts val="0"/>
              </a:spcAft>
              <a:buNone/>
            </a:pPr>
            <a:r>
              <a:t/>
            </a:r>
            <a:endParaRPr b="1">
              <a:solidFill>
                <a:schemeClr val="dk1"/>
              </a:solidFill>
            </a:endParaRPr>
          </a:p>
          <a:p>
            <a:pPr indent="0" lvl="0" marL="0" marR="0" rtl="0" algn="l">
              <a:lnSpc>
                <a:spcPct val="100000"/>
              </a:lnSpc>
              <a:spcBef>
                <a:spcPts val="0"/>
              </a:spcBef>
              <a:spcAft>
                <a:spcPts val="0"/>
              </a:spcAft>
              <a:buNone/>
            </a:pPr>
            <a:r>
              <a:rPr b="1" lang="en-US">
                <a:solidFill>
                  <a:schemeClr val="dk1"/>
                </a:solidFill>
              </a:rPr>
              <a:t>The Challenge</a:t>
            </a:r>
            <a:endParaRPr b="1">
              <a:solidFill>
                <a:schemeClr val="dk1"/>
              </a:solidFill>
            </a:endParaRPr>
          </a:p>
          <a:p>
            <a:pPr indent="0" lvl="0" marL="0" marR="0" rtl="0" algn="l">
              <a:lnSpc>
                <a:spcPct val="100000"/>
              </a:lnSpc>
              <a:spcBef>
                <a:spcPts val="0"/>
              </a:spcBef>
              <a:spcAft>
                <a:spcPts val="0"/>
              </a:spcAft>
              <a:buNone/>
            </a:pPr>
            <a:r>
              <a:rPr lang="en-US">
                <a:solidFill>
                  <a:schemeClr val="dk1"/>
                </a:solidFill>
              </a:rPr>
              <a:t>Pest and disease outbreaks can rapidly impact crop yield if not identified early. Traditional monitoring methods rely on visual inspections and historical experience, which may not capture early risk conditions driven by weather and environmental changes. There is a need for an intelligent system that can analyze environmental and crop data to assess pest and disease risk proactively.</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rPr b="1" lang="en-US">
                <a:solidFill>
                  <a:schemeClr val="dk1"/>
                </a:solidFill>
              </a:rPr>
              <a:t>Environmental &amp; Crop Data Analysis Agent</a:t>
            </a:r>
            <a:endParaRPr b="1">
              <a:solidFill>
                <a:schemeClr val="dk1"/>
              </a:solidFill>
            </a:endParaRPr>
          </a:p>
          <a:p>
            <a:pPr indent="0" lvl="0" marL="0" marR="0" rtl="0" algn="l">
              <a:lnSpc>
                <a:spcPct val="100000"/>
              </a:lnSpc>
              <a:spcBef>
                <a:spcPts val="0"/>
              </a:spcBef>
              <a:spcAft>
                <a:spcPts val="0"/>
              </a:spcAft>
              <a:buNone/>
            </a:pPr>
            <a:r>
              <a:rPr lang="en-US">
                <a:solidFill>
                  <a:schemeClr val="dk1"/>
                </a:solidFill>
              </a:rPr>
              <a:t>An agent that processes temperature, humidity, rainfall, crop type, and seasonal data into risk assessment summaries.</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rPr b="1" lang="en-US">
                <a:solidFill>
                  <a:schemeClr val="dk1"/>
                </a:solidFill>
              </a:rPr>
              <a:t>Pest &amp; Disease Risk Detection Agent</a:t>
            </a:r>
            <a:endParaRPr b="1">
              <a:solidFill>
                <a:schemeClr val="dk1"/>
              </a:solidFill>
            </a:endParaRPr>
          </a:p>
          <a:p>
            <a:pPr indent="0" lvl="0" marL="0" marR="0" rtl="0" algn="l">
              <a:lnSpc>
                <a:spcPct val="100000"/>
              </a:lnSpc>
              <a:spcBef>
                <a:spcPts val="0"/>
              </a:spcBef>
              <a:spcAft>
                <a:spcPts val="0"/>
              </a:spcAft>
              <a:buNone/>
            </a:pPr>
            <a:r>
              <a:rPr lang="en-US">
                <a:solidFill>
                  <a:schemeClr val="dk1"/>
                </a:solidFill>
              </a:rPr>
              <a:t>An agent that identifies favorable conditions for pest and disease development using historical patterns and agronomic thresholds.</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rPr b="1" lang="en-US">
                <a:solidFill>
                  <a:schemeClr val="dk1"/>
                </a:solidFill>
              </a:rPr>
              <a:t>Risk Alert &amp; Preventive Advisory Assistant</a:t>
            </a:r>
            <a:endParaRPr b="1">
              <a:solidFill>
                <a:schemeClr val="dk1"/>
              </a:solidFill>
            </a:endParaRPr>
          </a:p>
          <a:p>
            <a:pPr indent="0" lvl="0" marL="0" marR="0" rtl="0" algn="l">
              <a:lnSpc>
                <a:spcPct val="100000"/>
              </a:lnSpc>
              <a:spcBef>
                <a:spcPts val="0"/>
              </a:spcBef>
              <a:spcAft>
                <a:spcPts val="0"/>
              </a:spcAft>
              <a:buNone/>
            </a:pPr>
            <a:r>
              <a:rPr lang="en-US">
                <a:solidFill>
                  <a:schemeClr val="dk1"/>
                </a:solidFill>
              </a:rPr>
              <a:t>An agent that generates risk alerts and preventive care insights (assistive only, non-chemical recommendation).</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rPr b="1" lang="en-US">
                <a:solidFill>
                  <a:schemeClr val="dk1"/>
                </a:solidFill>
              </a:rPr>
              <a:t>Outcome</a:t>
            </a:r>
            <a:endParaRPr b="1">
              <a:solidFill>
                <a:schemeClr val="dk1"/>
              </a:solidFill>
            </a:endParaRPr>
          </a:p>
          <a:p>
            <a:pPr indent="0" lvl="0" marL="0" marR="0" rtl="0" algn="l">
              <a:lnSpc>
                <a:spcPct val="100000"/>
              </a:lnSpc>
              <a:spcBef>
                <a:spcPts val="0"/>
              </a:spcBef>
              <a:spcAft>
                <a:spcPts val="0"/>
              </a:spcAft>
              <a:buNone/>
            </a:pPr>
            <a:r>
              <a:rPr lang="en-US">
                <a:solidFill>
                  <a:schemeClr val="dk1"/>
                </a:solidFill>
              </a:rPr>
              <a:t>Improves early awareness of pest and disease risks, reducing crop loss, and unnecessary interventions.</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rPr b="1" lang="en-US">
                <a:solidFill>
                  <a:schemeClr val="dk1"/>
                </a:solidFill>
              </a:rPr>
              <a:t>Mandatory Tech Stack</a:t>
            </a:r>
            <a:endParaRPr b="1">
              <a:solidFill>
                <a:schemeClr val="dk1"/>
              </a:solidFill>
            </a:endParaRPr>
          </a:p>
          <a:p>
            <a:pPr indent="0" lvl="0" marL="0" marR="0" rtl="0" algn="l">
              <a:lnSpc>
                <a:spcPct val="100000"/>
              </a:lnSpc>
              <a:spcBef>
                <a:spcPts val="0"/>
              </a:spcBef>
              <a:spcAft>
                <a:spcPts val="0"/>
              </a:spcAft>
              <a:buNone/>
            </a:pPr>
            <a:r>
              <a:rPr lang="en-US">
                <a:solidFill>
                  <a:schemeClr val="dk1"/>
                </a:solidFill>
              </a:rPr>
              <a:t>Lang Flow using IBM Granite Model (Using RAG on integrated pest management (IPM) guidelines and agricultural extension resources.</a:t>
            </a:r>
            <a:endParaRPr>
              <a:solidFill>
                <a:schemeClr val="dk1"/>
              </a:solidFill>
            </a:endParaRPr>
          </a:p>
          <a:p>
            <a:pPr indent="0" lvl="0" marL="0" marR="0" rtl="0" algn="l">
              <a:lnSpc>
                <a:spcPct val="100000"/>
              </a:lnSpc>
              <a:spcBef>
                <a:spcPts val="0"/>
              </a:spcBef>
              <a:spcAft>
                <a:spcPts val="0"/>
              </a:spcAft>
              <a:buNone/>
            </a:pPr>
            <a:r>
              <a:t/>
            </a:r>
            <a:endParaRPr b="1">
              <a:solidFill>
                <a:schemeClr val="dk1"/>
              </a:solidFill>
            </a:endParaRPr>
          </a:p>
          <a:p>
            <a:pPr indent="0" lvl="0" marL="0" marR="0" rtl="0" algn="l">
              <a:lnSpc>
                <a:spcPct val="100000"/>
              </a:lnSpc>
              <a:spcBef>
                <a:spcPts val="0"/>
              </a:spcBef>
              <a:spcAft>
                <a:spcPts val="0"/>
              </a:spcAft>
              <a:buNone/>
            </a:pPr>
            <a:r>
              <a:t/>
            </a:r>
            <a:endParaRPr b="1">
              <a:solidFill>
                <a:schemeClr val="dk1"/>
              </a:solidFill>
            </a:endParaRPr>
          </a:p>
        </p:txBody>
      </p:sp>
      <p:sp>
        <p:nvSpPr>
          <p:cNvPr id="95" name="Google Shape;95;p14"/>
          <p:cNvSpPr txBox="1"/>
          <p:nvPr/>
        </p:nvSpPr>
        <p:spPr>
          <a:xfrm>
            <a:off x="4710306" y="400065"/>
            <a:ext cx="3226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a:t>
            </a:r>
            <a:r>
              <a:rPr b="1" lang="en-US" sz="2400"/>
              <a:t>S</a:t>
            </a:r>
            <a:r>
              <a:rPr b="1" i="0" lang="en-US" sz="2400" u="none" cap="none" strike="noStrike">
                <a:solidFill>
                  <a:srgbClr val="000000"/>
                </a:solidFill>
                <a:latin typeface="Arial"/>
                <a:ea typeface="Arial"/>
                <a:cs typeface="Arial"/>
                <a:sym typeface="Arial"/>
              </a:rPr>
              <a:t>tatement </a:t>
            </a:r>
            <a:endParaRPr/>
          </a:p>
        </p:txBody>
      </p:sp>
      <p:pic>
        <p:nvPicPr>
          <p:cNvPr id="96" name="Google Shape;96;p14"/>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p:nvPr/>
        </p:nvSpPr>
        <p:spPr>
          <a:xfrm>
            <a:off x="324894" y="4502602"/>
            <a:ext cx="2328056" cy="18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02" name="Google Shape;102;p15"/>
          <p:cNvSpPr txBox="1"/>
          <p:nvPr/>
        </p:nvSpPr>
        <p:spPr>
          <a:xfrm>
            <a:off x="1005840" y="1584102"/>
            <a:ext cx="10268700" cy="2912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The proposed solution is an </a:t>
            </a:r>
            <a:r>
              <a:rPr b="1" lang="en-US" sz="1600">
                <a:solidFill>
                  <a:schemeClr val="dk1"/>
                </a:solidFill>
              </a:rPr>
              <a:t>AI-powered Crop Pest and Disease Management System</a:t>
            </a:r>
            <a:r>
              <a:rPr lang="en-US" sz="1600">
                <a:solidFill>
                  <a:schemeClr val="dk1"/>
                </a:solidFill>
              </a:rPr>
              <a:t> that provides </a:t>
            </a:r>
            <a:r>
              <a:rPr b="1" lang="en-US" sz="1600">
                <a:solidFill>
                  <a:schemeClr val="dk1"/>
                </a:solidFill>
              </a:rPr>
              <a:t>real-time, intelligent decision support</a:t>
            </a:r>
            <a:r>
              <a:rPr lang="en-US" sz="1600">
                <a:solidFill>
                  <a:schemeClr val="dk1"/>
                </a:solidFill>
              </a:rPr>
              <a:t> to farmers. Users can enter crop details, symptoms, and environmental conditions through a simple chat interface.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The system leverages </a:t>
            </a:r>
            <a:r>
              <a:rPr b="1" lang="en-US" sz="1600">
                <a:solidFill>
                  <a:schemeClr val="dk1"/>
                </a:solidFill>
              </a:rPr>
              <a:t>IBM watsonx.ai (Granite models)</a:t>
            </a:r>
            <a:r>
              <a:rPr lang="en-US" sz="1600">
                <a:solidFill>
                  <a:schemeClr val="dk1"/>
                </a:solidFill>
              </a:rPr>
              <a:t> with an </a:t>
            </a:r>
            <a:r>
              <a:rPr b="1" lang="en-US" sz="1600">
                <a:solidFill>
                  <a:schemeClr val="dk1"/>
                </a:solidFill>
              </a:rPr>
              <a:t>agent-based architecture</a:t>
            </a:r>
            <a:r>
              <a:rPr lang="en-US" sz="1600">
                <a:solidFill>
                  <a:schemeClr val="dk1"/>
                </a:solidFill>
              </a:rPr>
              <a:t> to analyze inputs, retrieve relevant agricultural knowledge using </a:t>
            </a:r>
            <a:r>
              <a:rPr b="1" lang="en-US" sz="1600">
                <a:solidFill>
                  <a:schemeClr val="dk1"/>
                </a:solidFill>
              </a:rPr>
              <a:t>Retrieval-Augmented Generation (RAG)</a:t>
            </a:r>
            <a:r>
              <a:rPr lang="en-US" sz="1600">
                <a:solidFill>
                  <a:schemeClr val="dk1"/>
                </a:solidFill>
              </a:rPr>
              <a:t>, and access </a:t>
            </a:r>
            <a:r>
              <a:rPr b="1" lang="en-US" sz="1600">
                <a:solidFill>
                  <a:schemeClr val="dk1"/>
                </a:solidFill>
              </a:rPr>
              <a:t>real-time information</a:t>
            </a:r>
            <a:r>
              <a:rPr lang="en-US" sz="1600">
                <a:solidFill>
                  <a:schemeClr val="dk1"/>
                </a:solidFill>
              </a:rPr>
              <a:t> through web search. Based on this analysis, it delivers </a:t>
            </a:r>
            <a:r>
              <a:rPr b="1" lang="en-US" sz="1600">
                <a:solidFill>
                  <a:schemeClr val="dk1"/>
                </a:solidFill>
              </a:rPr>
              <a:t>accurate pest and disease risk identification</a:t>
            </a:r>
            <a:r>
              <a:rPr lang="en-US" sz="1600">
                <a:solidFill>
                  <a:schemeClr val="dk1"/>
                </a:solidFill>
              </a:rPr>
              <a:t>, along with </a:t>
            </a:r>
            <a:r>
              <a:rPr b="1" lang="en-US" sz="1600">
                <a:solidFill>
                  <a:schemeClr val="dk1"/>
                </a:solidFill>
              </a:rPr>
              <a:t>preventive measures and treatment recommendations</a:t>
            </a:r>
            <a:r>
              <a:rPr lang="en-US" sz="1600">
                <a:solidFill>
                  <a:schemeClr val="dk1"/>
                </a:solidFill>
              </a:rPr>
              <a:t>.</a:t>
            </a:r>
            <a:endParaRPr sz="1600">
              <a:solidFill>
                <a:schemeClr val="dk1"/>
              </a:solidFill>
            </a:endParaRPr>
          </a:p>
          <a:p>
            <a:pPr indent="0" lvl="0" marL="0" rtl="0" algn="l">
              <a:lnSpc>
                <a:spcPct val="115000"/>
              </a:lnSpc>
              <a:spcBef>
                <a:spcPts val="1200"/>
              </a:spcBef>
              <a:spcAft>
                <a:spcPts val="1200"/>
              </a:spcAft>
              <a:buSzPts val="1100"/>
              <a:buNone/>
            </a:pPr>
            <a:r>
              <a:rPr lang="en-US" sz="1600">
                <a:solidFill>
                  <a:schemeClr val="dk1"/>
                </a:solidFill>
              </a:rPr>
              <a:t>This solution reduces dependency on manual consultations, enables </a:t>
            </a:r>
            <a:r>
              <a:rPr b="1" lang="en-US" sz="1600">
                <a:solidFill>
                  <a:schemeClr val="dk1"/>
                </a:solidFill>
              </a:rPr>
              <a:t>early detection</a:t>
            </a:r>
            <a:r>
              <a:rPr lang="en-US" sz="1600">
                <a:solidFill>
                  <a:schemeClr val="dk1"/>
                </a:solidFill>
              </a:rPr>
              <a:t>, minimizes crop loss, and supports </a:t>
            </a:r>
            <a:r>
              <a:rPr b="1" lang="en-US" sz="1600">
                <a:solidFill>
                  <a:schemeClr val="dk1"/>
                </a:solidFill>
              </a:rPr>
              <a:t>sustainable and informed agricultural practices</a:t>
            </a:r>
            <a:r>
              <a:rPr lang="en-US" sz="1600">
                <a:solidFill>
                  <a:schemeClr val="dk1"/>
                </a:solidFill>
              </a:rPr>
              <a:t>.</a:t>
            </a:r>
            <a:endParaRPr sz="1600"/>
          </a:p>
        </p:txBody>
      </p:sp>
      <p:sp>
        <p:nvSpPr>
          <p:cNvPr id="103" name="Google Shape;103;p15"/>
          <p:cNvSpPr txBox="1"/>
          <p:nvPr/>
        </p:nvSpPr>
        <p:spPr>
          <a:xfrm>
            <a:off x="1036782" y="741143"/>
            <a:ext cx="4539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Proposed solution </a:t>
            </a:r>
            <a:endParaRPr sz="2800"/>
          </a:p>
        </p:txBody>
      </p:sp>
      <p:pic>
        <p:nvPicPr>
          <p:cNvPr id="104" name="Google Shape;104;p15"/>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p:nvPr/>
        </p:nvSpPr>
        <p:spPr>
          <a:xfrm>
            <a:off x="324894" y="4502602"/>
            <a:ext cx="2328056" cy="18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10" name="Google Shape;110;p16"/>
          <p:cNvSpPr txBox="1"/>
          <p:nvPr/>
        </p:nvSpPr>
        <p:spPr>
          <a:xfrm>
            <a:off x="1005840" y="1584102"/>
            <a:ext cx="10268700" cy="3915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Agriculture faces </a:t>
            </a:r>
            <a:r>
              <a:rPr b="1" lang="en-US" sz="1600">
                <a:solidFill>
                  <a:schemeClr val="dk1"/>
                </a:solidFill>
              </a:rPr>
              <a:t>major challenges due to crop pests and diseases</a:t>
            </a:r>
            <a:r>
              <a:rPr lang="en-US" sz="1600">
                <a:solidFill>
                  <a:schemeClr val="dk1"/>
                </a:solidFill>
              </a:rPr>
              <a:t>, which significantly reduce crop yield and farmers’ income. Factors such as </a:t>
            </a:r>
            <a:r>
              <a:rPr b="1" lang="en-US" sz="1600">
                <a:solidFill>
                  <a:schemeClr val="dk1"/>
                </a:solidFill>
              </a:rPr>
              <a:t>climate change, unpredictable weather, and varying soil conditions</a:t>
            </a:r>
            <a:r>
              <a:rPr lang="en-US" sz="1600">
                <a:solidFill>
                  <a:schemeClr val="dk1"/>
                </a:solidFill>
              </a:rPr>
              <a:t> have increased the occurrence and severity of pest and disease outbreaks. Even small delays in detection can lead to serious crop damage and financial loss.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Many farmers </a:t>
            </a:r>
            <a:r>
              <a:rPr b="1" lang="en-US" sz="1600">
                <a:solidFill>
                  <a:schemeClr val="dk1"/>
                </a:solidFill>
              </a:rPr>
              <a:t>lack timely access to agricultural experts</a:t>
            </a:r>
            <a:r>
              <a:rPr lang="en-US" sz="1600">
                <a:solidFill>
                  <a:schemeClr val="dk1"/>
                </a:solidFill>
              </a:rPr>
              <a:t>, especially in rural areas, and often depend on </a:t>
            </a:r>
            <a:r>
              <a:rPr b="1" lang="en-US" sz="1600">
                <a:solidFill>
                  <a:schemeClr val="dk1"/>
                </a:solidFill>
              </a:rPr>
              <a:t>guesswork or delayed consultations</a:t>
            </a:r>
            <a:r>
              <a:rPr lang="en-US" sz="1600">
                <a:solidFill>
                  <a:schemeClr val="dk1"/>
                </a:solidFill>
              </a:rPr>
              <a:t>. Traditional advisory methods are </a:t>
            </a:r>
            <a:r>
              <a:rPr b="1" lang="en-US" sz="1600">
                <a:solidFill>
                  <a:schemeClr val="dk1"/>
                </a:solidFill>
              </a:rPr>
              <a:t>manual, time-consuming, and location-dependent</a:t>
            </a:r>
            <a:r>
              <a:rPr lang="en-US" sz="1600">
                <a:solidFill>
                  <a:schemeClr val="dk1"/>
                </a:solidFill>
              </a:rPr>
              <a:t>, and they may not reflect </a:t>
            </a:r>
            <a:r>
              <a:rPr b="1" lang="en-US" sz="1600">
                <a:solidFill>
                  <a:schemeClr val="dk1"/>
                </a:solidFill>
              </a:rPr>
              <a:t>current environmental conditions or emerging disease trends</a:t>
            </a:r>
            <a:r>
              <a:rPr lang="en-US" sz="1600">
                <a:solidFill>
                  <a:schemeClr val="dk1"/>
                </a:solidFill>
              </a:rPr>
              <a:t>.</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Hence, there is a strong need for a </a:t>
            </a:r>
            <a:r>
              <a:rPr b="1" lang="en-US" sz="1600">
                <a:solidFill>
                  <a:schemeClr val="dk1"/>
                </a:solidFill>
              </a:rPr>
              <a:t>smart, accessible, and real-time system</a:t>
            </a:r>
            <a:r>
              <a:rPr lang="en-US" sz="1600">
                <a:solidFill>
                  <a:schemeClr val="dk1"/>
                </a:solidFill>
              </a:rPr>
              <a:t> that can identify potential pest and disease risks early and provide </a:t>
            </a:r>
            <a:r>
              <a:rPr b="1" lang="en-US" sz="1600">
                <a:solidFill>
                  <a:schemeClr val="dk1"/>
                </a:solidFill>
              </a:rPr>
              <a:t>accurate preventive and corrective guidance</a:t>
            </a:r>
            <a:r>
              <a:rPr lang="en-US" sz="1600">
                <a:solidFill>
                  <a:schemeClr val="dk1"/>
                </a:solidFill>
              </a:rPr>
              <a:t>, helping farmers make informed decisions and protect crop productivity.</a:t>
            </a:r>
            <a:endParaRPr sz="1600">
              <a:solidFill>
                <a:schemeClr val="dk1"/>
              </a:solidFill>
            </a:endParaRPr>
          </a:p>
          <a:p>
            <a:pPr indent="0" lvl="0" marL="0" marR="0" rtl="0" algn="l">
              <a:lnSpc>
                <a:spcPct val="100000"/>
              </a:lnSpc>
              <a:spcBef>
                <a:spcPts val="1200"/>
              </a:spcBef>
              <a:spcAft>
                <a:spcPts val="0"/>
              </a:spcAft>
              <a:buNone/>
            </a:pPr>
            <a:r>
              <a:t/>
            </a:r>
            <a:endParaRPr sz="1600">
              <a:solidFill>
                <a:schemeClr val="dk1"/>
              </a:solidFill>
            </a:endParaRPr>
          </a:p>
        </p:txBody>
      </p:sp>
      <p:sp>
        <p:nvSpPr>
          <p:cNvPr id="111" name="Google Shape;111;p16"/>
          <p:cNvSpPr txBox="1"/>
          <p:nvPr/>
        </p:nvSpPr>
        <p:spPr>
          <a:xfrm>
            <a:off x="1034441" y="524940"/>
            <a:ext cx="5496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Need </a:t>
            </a:r>
            <a:r>
              <a:rPr b="1" lang="en-US" sz="2800"/>
              <a:t>O</a:t>
            </a:r>
            <a:r>
              <a:rPr b="1" i="0" lang="en-US" sz="2800" u="none" cap="none" strike="noStrike">
                <a:solidFill>
                  <a:srgbClr val="000000"/>
                </a:solidFill>
                <a:latin typeface="Arial"/>
                <a:ea typeface="Arial"/>
                <a:cs typeface="Arial"/>
                <a:sym typeface="Arial"/>
              </a:rPr>
              <a:t>f </a:t>
            </a:r>
            <a:r>
              <a:rPr b="1" lang="en-US" sz="2800"/>
              <a:t>T</a:t>
            </a:r>
            <a:r>
              <a:rPr b="1" i="0" lang="en-US" sz="2800" u="none" cap="none" strike="noStrike">
                <a:solidFill>
                  <a:srgbClr val="000000"/>
                </a:solidFill>
                <a:latin typeface="Arial"/>
                <a:ea typeface="Arial"/>
                <a:cs typeface="Arial"/>
                <a:sym typeface="Arial"/>
              </a:rPr>
              <a:t>he </a:t>
            </a:r>
            <a:r>
              <a:rPr b="1" lang="en-US" sz="2800"/>
              <a:t>P</a:t>
            </a:r>
            <a:r>
              <a:rPr b="1" i="0" lang="en-US" sz="2800" u="none" cap="none" strike="noStrike">
                <a:solidFill>
                  <a:srgbClr val="000000"/>
                </a:solidFill>
                <a:latin typeface="Arial"/>
                <a:ea typeface="Arial"/>
                <a:cs typeface="Arial"/>
                <a:sym typeface="Arial"/>
              </a:rPr>
              <a:t>roject </a:t>
            </a:r>
            <a:endParaRPr sz="2800"/>
          </a:p>
        </p:txBody>
      </p:sp>
      <p:pic>
        <p:nvPicPr>
          <p:cNvPr id="112" name="Google Shape;112;p16"/>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p:nvPr/>
        </p:nvSpPr>
        <p:spPr>
          <a:xfrm>
            <a:off x="324894" y="4502602"/>
            <a:ext cx="2328056" cy="18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18" name="Google Shape;118;p17"/>
          <p:cNvSpPr txBox="1"/>
          <p:nvPr/>
        </p:nvSpPr>
        <p:spPr>
          <a:xfrm>
            <a:off x="901456" y="1440575"/>
            <a:ext cx="10268700" cy="4032900"/>
          </a:xfrm>
          <a:prstGeom prst="rect">
            <a:avLst/>
          </a:prstGeom>
          <a:noFill/>
          <a:ln>
            <a:noFill/>
          </a:ln>
        </p:spPr>
        <p:txBody>
          <a:bodyPr anchorCtr="0" anchor="t" bIns="45700" lIns="91425" spcFirstLastPara="1" rIns="91425" wrap="square" tIns="45700">
            <a:spAutoFit/>
          </a:bodyPr>
          <a:lstStyle/>
          <a:p>
            <a:pPr indent="-330200" lvl="0" marL="457200" rtl="0" algn="l">
              <a:spcBef>
                <a:spcPts val="0"/>
              </a:spcBef>
              <a:spcAft>
                <a:spcPts val="0"/>
              </a:spcAft>
              <a:buClr>
                <a:schemeClr val="dk1"/>
              </a:buClr>
              <a:buSzPts val="1600"/>
              <a:buChar char="●"/>
            </a:pPr>
            <a:r>
              <a:rPr b="1" lang="en-US" sz="1600">
                <a:solidFill>
                  <a:schemeClr val="dk1"/>
                </a:solidFill>
              </a:rPr>
              <a:t>Farmers:</a:t>
            </a:r>
            <a:br>
              <a:rPr b="1" lang="en-US" sz="1600">
                <a:solidFill>
                  <a:schemeClr val="dk1"/>
                </a:solidFill>
              </a:rPr>
            </a:br>
            <a:r>
              <a:rPr lang="en-US" sz="1600">
                <a:solidFill>
                  <a:schemeClr val="dk1"/>
                </a:solidFill>
              </a:rPr>
              <a:t> Primary users of the system who can input crop details and symptoms to receive timely, accurate guidance on pest and disease management, helping reduce crop losses and improve yield.</a:t>
            </a:r>
            <a:br>
              <a:rPr lang="en-US"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Agricultural Extension Officers:</a:t>
            </a:r>
            <a:br>
              <a:rPr b="1" lang="en-US" sz="1600">
                <a:solidFill>
                  <a:schemeClr val="dk1"/>
                </a:solidFill>
              </a:rPr>
            </a:br>
            <a:r>
              <a:rPr lang="en-US" sz="1600">
                <a:solidFill>
                  <a:schemeClr val="dk1"/>
                </a:solidFill>
              </a:rPr>
              <a:t> Use the system to support farmers with data-driven insights, faster diagnosis, and region-specific recommendations.</a:t>
            </a:r>
            <a:br>
              <a:rPr lang="en-US"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Agricultural Consultants &amp; Experts:</a:t>
            </a:r>
            <a:br>
              <a:rPr b="1" lang="en-US" sz="1600">
                <a:solidFill>
                  <a:schemeClr val="dk1"/>
                </a:solidFill>
              </a:rPr>
            </a:br>
            <a:r>
              <a:rPr lang="en-US" sz="1600">
                <a:solidFill>
                  <a:schemeClr val="dk1"/>
                </a:solidFill>
              </a:rPr>
              <a:t> Leverage AI-assisted analysis to validate observations, improve advisory services, and suggest effective preventive and corrective measures.</a:t>
            </a:r>
            <a:br>
              <a:rPr lang="en-US"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Agri-tech Organizations &amp; Startups:</a:t>
            </a:r>
            <a:br>
              <a:rPr b="1" lang="en-US" sz="1600">
                <a:solidFill>
                  <a:schemeClr val="dk1"/>
                </a:solidFill>
              </a:rPr>
            </a:br>
            <a:r>
              <a:rPr lang="en-US" sz="1600">
                <a:solidFill>
                  <a:schemeClr val="dk1"/>
                </a:solidFill>
              </a:rPr>
              <a:t> Integrate the solution into digital agriculture platforms to enhance smart farming, decision support, and sustainability initiatives.</a:t>
            </a:r>
            <a:endParaRPr sz="1600">
              <a:solidFill>
                <a:schemeClr val="dk1"/>
              </a:solidFill>
            </a:endParaRPr>
          </a:p>
          <a:p>
            <a:pPr indent="0" lvl="0" marL="0" marR="0" rtl="0" algn="l">
              <a:lnSpc>
                <a:spcPct val="100000"/>
              </a:lnSpc>
              <a:spcBef>
                <a:spcPts val="0"/>
              </a:spcBef>
              <a:spcAft>
                <a:spcPts val="0"/>
              </a:spcAft>
              <a:buNone/>
            </a:pPr>
            <a:r>
              <a:t/>
            </a:r>
            <a:endParaRPr sz="1600"/>
          </a:p>
        </p:txBody>
      </p:sp>
      <p:sp>
        <p:nvSpPr>
          <p:cNvPr id="119" name="Google Shape;119;p17"/>
          <p:cNvSpPr txBox="1"/>
          <p:nvPr/>
        </p:nvSpPr>
        <p:spPr>
          <a:xfrm>
            <a:off x="1034441" y="524940"/>
            <a:ext cx="549643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End </a:t>
            </a:r>
            <a:r>
              <a:rPr b="1" lang="en-US" sz="2400"/>
              <a:t>U</a:t>
            </a:r>
            <a:r>
              <a:rPr b="1" i="0" lang="en-US" sz="2400" u="none" cap="none" strike="noStrike">
                <a:solidFill>
                  <a:srgbClr val="000000"/>
                </a:solidFill>
                <a:latin typeface="Arial"/>
                <a:ea typeface="Arial"/>
                <a:cs typeface="Arial"/>
                <a:sym typeface="Arial"/>
              </a:rPr>
              <a:t>ser </a:t>
            </a:r>
            <a:r>
              <a:rPr b="1" lang="en-US" sz="2400"/>
              <a:t>O</a:t>
            </a:r>
            <a:r>
              <a:rPr b="1" i="0" lang="en-US" sz="2400" u="none" cap="none" strike="noStrike">
                <a:solidFill>
                  <a:srgbClr val="000000"/>
                </a:solidFill>
                <a:latin typeface="Arial"/>
                <a:ea typeface="Arial"/>
                <a:cs typeface="Arial"/>
                <a:sym typeface="Arial"/>
              </a:rPr>
              <a:t>f T</a:t>
            </a:r>
            <a:r>
              <a:rPr b="1" lang="en-US" sz="2400"/>
              <a:t>he</a:t>
            </a:r>
            <a:r>
              <a:rPr b="1" i="0" lang="en-US" sz="2400" u="none" cap="none" strike="noStrike">
                <a:solidFill>
                  <a:srgbClr val="000000"/>
                </a:solidFill>
                <a:latin typeface="Arial"/>
                <a:ea typeface="Arial"/>
                <a:cs typeface="Arial"/>
                <a:sym typeface="Arial"/>
              </a:rPr>
              <a:t> </a:t>
            </a:r>
            <a:r>
              <a:rPr b="1" lang="en-US" sz="2400"/>
              <a:t>P</a:t>
            </a:r>
            <a:r>
              <a:rPr b="1" i="0" lang="en-US" sz="2400" u="none" cap="none" strike="noStrike">
                <a:solidFill>
                  <a:srgbClr val="000000"/>
                </a:solidFill>
                <a:latin typeface="Arial"/>
                <a:ea typeface="Arial"/>
                <a:cs typeface="Arial"/>
                <a:sym typeface="Arial"/>
              </a:rPr>
              <a:t>roject</a:t>
            </a:r>
            <a:endParaRPr b="0" i="0" sz="2400" u="none" cap="none" strike="noStrike">
              <a:solidFill>
                <a:srgbClr val="000000"/>
              </a:solidFill>
              <a:latin typeface="Arial"/>
              <a:ea typeface="Arial"/>
              <a:cs typeface="Arial"/>
              <a:sym typeface="Arial"/>
            </a:endParaRPr>
          </a:p>
        </p:txBody>
      </p:sp>
      <p:pic>
        <p:nvPicPr>
          <p:cNvPr id="120" name="Google Shape;120;p17"/>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nvSpPr>
        <p:spPr>
          <a:xfrm>
            <a:off x="777240" y="484632"/>
            <a:ext cx="712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Technology Used</a:t>
            </a:r>
            <a:endParaRPr b="1" i="0" sz="2800" u="none" cap="none" strike="noStrike">
              <a:solidFill>
                <a:srgbClr val="000000"/>
              </a:solidFill>
              <a:latin typeface="Arial"/>
              <a:ea typeface="Arial"/>
              <a:cs typeface="Arial"/>
              <a:sym typeface="Arial"/>
            </a:endParaRPr>
          </a:p>
        </p:txBody>
      </p:sp>
      <p:sp>
        <p:nvSpPr>
          <p:cNvPr id="126" name="Google Shape;126;p18"/>
          <p:cNvSpPr txBox="1"/>
          <p:nvPr/>
        </p:nvSpPr>
        <p:spPr>
          <a:xfrm>
            <a:off x="838190" y="1481033"/>
            <a:ext cx="10515600" cy="3170700"/>
          </a:xfrm>
          <a:prstGeom prst="rect">
            <a:avLst/>
          </a:prstGeom>
          <a:noFill/>
          <a:ln>
            <a:noFill/>
          </a:ln>
        </p:spPr>
        <p:txBody>
          <a:bodyPr anchorCtr="0" anchor="t" bIns="45700" lIns="91425" spcFirstLastPara="1" rIns="91425" wrap="square" tIns="45700">
            <a:spAutoFit/>
          </a:bodyPr>
          <a:lstStyle/>
          <a:p>
            <a:pPr indent="-330200" lvl="0" marL="457200" rtl="0" algn="l">
              <a:lnSpc>
                <a:spcPct val="115000"/>
              </a:lnSpc>
              <a:spcBef>
                <a:spcPts val="1200"/>
              </a:spcBef>
              <a:spcAft>
                <a:spcPts val="0"/>
              </a:spcAft>
              <a:buClr>
                <a:schemeClr val="dk1"/>
              </a:buClr>
              <a:buSzPts val="1600"/>
              <a:buChar char="●"/>
            </a:pPr>
            <a:r>
              <a:rPr b="1" lang="en-US" sz="1600">
                <a:solidFill>
                  <a:schemeClr val="dk1"/>
                </a:solidFill>
              </a:rPr>
              <a:t>Platform:</a:t>
            </a:r>
            <a:r>
              <a:rPr lang="en-US" sz="1600">
                <a:solidFill>
                  <a:schemeClr val="dk1"/>
                </a:solidFill>
              </a:rPr>
              <a:t> LangFlow with LangChain for building agent-based workflows</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LLM:</a:t>
            </a:r>
            <a:r>
              <a:rPr lang="en-US" sz="1600">
                <a:solidFill>
                  <a:schemeClr val="dk1"/>
                </a:solidFill>
              </a:rPr>
              <a:t> IBM watsonx.ai using IBM Granite model (</a:t>
            </a:r>
            <a:r>
              <a:rPr i="1" lang="en-US" sz="1600">
                <a:solidFill>
                  <a:schemeClr val="dk1"/>
                </a:solidFill>
              </a:rPr>
              <a:t>ibm-granite-3-2-8b</a:t>
            </a:r>
            <a:r>
              <a:rPr lang="en-US" sz="1600">
                <a:solidFill>
                  <a:schemeClr val="dk1"/>
                </a:solidFill>
              </a:rPr>
              <a:t>)</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Core Components:</a:t>
            </a:r>
            <a:r>
              <a:rPr lang="en-US" sz="1600">
                <a:solidFill>
                  <a:schemeClr val="dk1"/>
                </a:solidFill>
              </a:rPr>
              <a:t> Agent, Chat Input, Chat Output</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Retrieval:</a:t>
            </a:r>
            <a:r>
              <a:rPr lang="en-US" sz="1600">
                <a:solidFill>
                  <a:schemeClr val="dk1"/>
                </a:solidFill>
              </a:rPr>
              <a:t> AstraDB as vector database with RAG</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Search:</a:t>
            </a:r>
            <a:r>
              <a:rPr lang="en-US" sz="1600">
                <a:solidFill>
                  <a:schemeClr val="dk1"/>
                </a:solidFill>
              </a:rPr>
              <a:t> Tavily Web Search for real-time information</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Infrastructure:</a:t>
            </a:r>
            <a:r>
              <a:rPr lang="en-US" sz="1600">
                <a:solidFill>
                  <a:schemeClr val="dk1"/>
                </a:solidFill>
              </a:rPr>
              <a:t> IBM Cloud</a:t>
            </a:r>
            <a:endParaRPr sz="1800"/>
          </a:p>
        </p:txBody>
      </p:sp>
      <p:pic>
        <p:nvPicPr>
          <p:cNvPr id="127" name="Google Shape;127;p18"/>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p:nvPr/>
        </p:nvSpPr>
        <p:spPr>
          <a:xfrm>
            <a:off x="743370" y="212424"/>
            <a:ext cx="4159800" cy="6147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none" cap="none" strike="noStrike">
                <a:solidFill>
                  <a:srgbClr val="051D3A"/>
                </a:solidFill>
              </a:rPr>
              <a:t>Novelty and Uniqueness</a:t>
            </a:r>
            <a:endParaRPr b="1" i="0" sz="2800" u="none" cap="none" strike="noStrike">
              <a:solidFill>
                <a:srgbClr val="000000"/>
              </a:solidFill>
            </a:endParaRPr>
          </a:p>
        </p:txBody>
      </p:sp>
      <p:sp>
        <p:nvSpPr>
          <p:cNvPr id="133" name="Google Shape;133;p19"/>
          <p:cNvSpPr/>
          <p:nvPr/>
        </p:nvSpPr>
        <p:spPr>
          <a:xfrm>
            <a:off x="644037" y="836100"/>
            <a:ext cx="11159100" cy="5264100"/>
          </a:xfrm>
          <a:prstGeom prst="rect">
            <a:avLst/>
          </a:prstGeom>
          <a:noFill/>
          <a:ln>
            <a:noFill/>
          </a:ln>
        </p:spPr>
        <p:txBody>
          <a:bodyPr anchorCtr="0" anchor="t" bIns="0" lIns="0" spcFirstLastPara="1" rIns="0" wrap="square" tIns="0">
            <a:noAutofit/>
          </a:bodyPr>
          <a:lstStyle/>
          <a:p>
            <a:pPr indent="-330200" lvl="0" marL="457200" rtl="0" algn="just">
              <a:lnSpc>
                <a:spcPct val="115000"/>
              </a:lnSpc>
              <a:spcBef>
                <a:spcPts val="1200"/>
              </a:spcBef>
              <a:spcAft>
                <a:spcPts val="0"/>
              </a:spcAft>
              <a:buClr>
                <a:schemeClr val="dk1"/>
              </a:buClr>
              <a:buSzPts val="1600"/>
              <a:buChar char="●"/>
            </a:pPr>
            <a:r>
              <a:rPr b="1" lang="en-US" sz="1600">
                <a:solidFill>
                  <a:schemeClr val="dk1"/>
                </a:solidFill>
              </a:rPr>
              <a:t>Agentic AI Architecture:</a:t>
            </a:r>
            <a:br>
              <a:rPr b="1" lang="en-US" sz="1600">
                <a:solidFill>
                  <a:schemeClr val="dk1"/>
                </a:solidFill>
              </a:rPr>
            </a:br>
            <a:r>
              <a:rPr lang="en-US" sz="1600">
                <a:solidFill>
                  <a:schemeClr val="dk1"/>
                </a:solidFill>
              </a:rPr>
              <a:t> Unlike traditional rule-based or single-model systems, this project uses an </a:t>
            </a:r>
            <a:r>
              <a:rPr b="1" lang="en-US" sz="1600">
                <a:solidFill>
                  <a:schemeClr val="dk1"/>
                </a:solidFill>
              </a:rPr>
              <a:t>agent-based AI approach</a:t>
            </a:r>
            <a:r>
              <a:rPr lang="en-US" sz="1600">
                <a:solidFill>
                  <a:schemeClr val="dk1"/>
                </a:solidFill>
              </a:rPr>
              <a:t> where intelligent agents collaboratively analyze crop conditions, retrieve knowledge, and generate recommendations.</a:t>
            </a:r>
            <a:br>
              <a:rPr lang="en-US" sz="1600">
                <a:solidFill>
                  <a:schemeClr val="dk1"/>
                </a:solidFill>
              </a:rPr>
            </a:b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Real-Time, Context-Aware Guidance:</a:t>
            </a:r>
            <a:br>
              <a:rPr b="1" lang="en-US" sz="1600">
                <a:solidFill>
                  <a:schemeClr val="dk1"/>
                </a:solidFill>
              </a:rPr>
            </a:br>
            <a:r>
              <a:rPr lang="en-US" sz="1600">
                <a:solidFill>
                  <a:schemeClr val="dk1"/>
                </a:solidFill>
              </a:rPr>
              <a:t> By combining </a:t>
            </a:r>
            <a:r>
              <a:rPr b="1" lang="en-US" sz="1600">
                <a:solidFill>
                  <a:schemeClr val="dk1"/>
                </a:solidFill>
              </a:rPr>
              <a:t>Retrieval-Augmented Generation (RAG)</a:t>
            </a:r>
            <a:r>
              <a:rPr lang="en-US" sz="1600">
                <a:solidFill>
                  <a:schemeClr val="dk1"/>
                </a:solidFill>
              </a:rPr>
              <a:t> with </a:t>
            </a:r>
            <a:r>
              <a:rPr b="1" lang="en-US" sz="1600">
                <a:solidFill>
                  <a:schemeClr val="dk1"/>
                </a:solidFill>
              </a:rPr>
              <a:t>live web search</a:t>
            </a:r>
            <a:r>
              <a:rPr lang="en-US" sz="1600">
                <a:solidFill>
                  <a:schemeClr val="dk1"/>
                </a:solidFill>
              </a:rPr>
              <a:t>, the system delivers up-to-date and context-specific insights instead of static or outdated advice.</a:t>
            </a:r>
            <a:br>
              <a:rPr lang="en-US" sz="1600">
                <a:solidFill>
                  <a:schemeClr val="dk1"/>
                </a:solidFill>
              </a:rPr>
            </a:b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Explainable and Actionable Outputs:</a:t>
            </a:r>
            <a:br>
              <a:rPr b="1" lang="en-US" sz="1600">
                <a:solidFill>
                  <a:schemeClr val="dk1"/>
                </a:solidFill>
              </a:rPr>
            </a:br>
            <a:r>
              <a:rPr lang="en-US" sz="1600">
                <a:solidFill>
                  <a:schemeClr val="dk1"/>
                </a:solidFill>
              </a:rPr>
              <a:t> The system not only identifies potential pest and disease risks but also provides </a:t>
            </a:r>
            <a:r>
              <a:rPr b="1" lang="en-US" sz="1600">
                <a:solidFill>
                  <a:schemeClr val="dk1"/>
                </a:solidFill>
              </a:rPr>
              <a:t>clear preventive and corrective measures</a:t>
            </a:r>
            <a:r>
              <a:rPr lang="en-US" sz="1600">
                <a:solidFill>
                  <a:schemeClr val="dk1"/>
                </a:solidFill>
              </a:rPr>
              <a:t>, making the recommendations easy to understand and apply.</a:t>
            </a:r>
            <a:br>
              <a:rPr lang="en-US" sz="1600">
                <a:solidFill>
                  <a:schemeClr val="dk1"/>
                </a:solidFill>
              </a:rPr>
            </a:b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Accessible Chat-Based Interface:</a:t>
            </a:r>
            <a:br>
              <a:rPr b="1" lang="en-US" sz="1600">
                <a:solidFill>
                  <a:schemeClr val="dk1"/>
                </a:solidFill>
              </a:rPr>
            </a:br>
            <a:r>
              <a:rPr lang="en-US" sz="1600">
                <a:solidFill>
                  <a:schemeClr val="dk1"/>
                </a:solidFill>
              </a:rPr>
              <a:t> Farmers can interact with the system using a </a:t>
            </a:r>
            <a:r>
              <a:rPr b="1" lang="en-US" sz="1600">
                <a:solidFill>
                  <a:schemeClr val="dk1"/>
                </a:solidFill>
              </a:rPr>
              <a:t>simple conversational interface</a:t>
            </a:r>
            <a:r>
              <a:rPr lang="en-US" sz="1600">
                <a:solidFill>
                  <a:schemeClr val="dk1"/>
                </a:solidFill>
              </a:rPr>
              <a:t>, eliminating the need for technical expertise or manual data analysis.</a:t>
            </a:r>
            <a:br>
              <a:rPr lang="en-US" sz="1600">
                <a:solidFill>
                  <a:schemeClr val="dk1"/>
                </a:solidFill>
              </a:rPr>
            </a:b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Enterprise-Grade AI with IBM watsonx:</a:t>
            </a:r>
            <a:br>
              <a:rPr b="1" lang="en-US" sz="1600">
                <a:solidFill>
                  <a:schemeClr val="dk1"/>
                </a:solidFill>
              </a:rPr>
            </a:br>
            <a:r>
              <a:rPr lang="en-US" sz="1600">
                <a:solidFill>
                  <a:schemeClr val="dk1"/>
                </a:solidFill>
              </a:rPr>
              <a:t> Built on </a:t>
            </a:r>
            <a:r>
              <a:rPr b="1" lang="en-US" sz="1600">
                <a:solidFill>
                  <a:schemeClr val="dk1"/>
                </a:solidFill>
              </a:rPr>
              <a:t>IBM watsonx.ai and Granite models</a:t>
            </a:r>
            <a:r>
              <a:rPr lang="en-US" sz="1600">
                <a:solidFill>
                  <a:schemeClr val="dk1"/>
                </a:solidFill>
              </a:rPr>
              <a:t>, the solution ensures reliability, scalability, and secure AI-driven decision support.</a:t>
            </a:r>
            <a:br>
              <a:rPr lang="en-US" sz="1600">
                <a:solidFill>
                  <a:schemeClr val="dk1"/>
                </a:solidFill>
              </a:rPr>
            </a:br>
            <a:endParaRPr sz="1600">
              <a:solidFill>
                <a:schemeClr val="dk1"/>
              </a:solidFill>
            </a:endParaRPr>
          </a:p>
          <a:p>
            <a:pPr indent="0" lvl="0" marL="0" marR="0" rtl="0" algn="just">
              <a:lnSpc>
                <a:spcPct val="162162"/>
              </a:lnSpc>
              <a:spcBef>
                <a:spcPts val="1200"/>
              </a:spcBef>
              <a:spcAft>
                <a:spcPts val="0"/>
              </a:spcAft>
              <a:buClr>
                <a:srgbClr val="2B3541"/>
              </a:buClr>
              <a:buSzPts val="1850"/>
              <a:buFont typeface="Times New Roman"/>
              <a:buNone/>
            </a:pPr>
            <a:r>
              <a:t/>
            </a:r>
            <a:endParaRPr sz="1600">
              <a:solidFill>
                <a:srgbClr val="2B3541"/>
              </a:solidFill>
              <a:latin typeface="Times New Roman"/>
              <a:ea typeface="Times New Roman"/>
              <a:cs typeface="Times New Roman"/>
              <a:sym typeface="Times New Roman"/>
            </a:endParaRPr>
          </a:p>
        </p:txBody>
      </p:sp>
      <p:pic>
        <p:nvPicPr>
          <p:cNvPr id="134" name="Google Shape;134;p19"/>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nvSpPr>
        <p:spPr>
          <a:xfrm>
            <a:off x="1786420" y="403477"/>
            <a:ext cx="82077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chemeClr val="dk1"/>
                </a:solidFill>
                <a:latin typeface="Arial"/>
                <a:ea typeface="Arial"/>
                <a:cs typeface="Arial"/>
                <a:sym typeface="Arial"/>
              </a:rPr>
              <a:t>Technical flow diagram - Architecture blueprint</a:t>
            </a:r>
            <a:endParaRPr b="1" i="0" sz="2400" u="none" cap="none" strike="noStrike">
              <a:solidFill>
                <a:schemeClr val="dk1"/>
              </a:solidFill>
              <a:latin typeface="Arial"/>
              <a:ea typeface="Arial"/>
              <a:cs typeface="Arial"/>
              <a:sym typeface="Arial"/>
            </a:endParaRPr>
          </a:p>
        </p:txBody>
      </p:sp>
      <p:pic>
        <p:nvPicPr>
          <p:cNvPr id="140" name="Google Shape;140;p20"/>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pic>
        <p:nvPicPr>
          <p:cNvPr id="141" name="Google Shape;141;p20"/>
          <p:cNvPicPr preferRelativeResize="0"/>
          <p:nvPr/>
        </p:nvPicPr>
        <p:blipFill>
          <a:blip r:embed="rId4">
            <a:alphaModFix/>
          </a:blip>
          <a:stretch>
            <a:fillRect/>
          </a:stretch>
        </p:blipFill>
        <p:spPr>
          <a:xfrm>
            <a:off x="296292" y="1093750"/>
            <a:ext cx="11703799" cy="4290590"/>
          </a:xfrm>
          <a:prstGeom prst="rect">
            <a:avLst/>
          </a:prstGeom>
          <a:noFill/>
          <a:ln cap="flat" cmpd="sng" w="19050">
            <a:solidFill>
              <a:srgbClr val="9900FF"/>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51D3A"/>
                </a:solidFill>
                <a:latin typeface="Arial"/>
                <a:ea typeface="Arial"/>
                <a:cs typeface="Arial"/>
                <a:sym typeface="Arial"/>
              </a:rPr>
              <a:t>Langflow </a:t>
            </a:r>
            <a:r>
              <a:rPr b="1" lang="en-US" sz="2400">
                <a:solidFill>
                  <a:srgbClr val="051D3A"/>
                </a:solidFill>
              </a:rPr>
              <a:t>C</a:t>
            </a:r>
            <a:r>
              <a:rPr b="1" i="0" lang="en-US" sz="2400" u="none" cap="none" strike="noStrike">
                <a:solidFill>
                  <a:srgbClr val="051D3A"/>
                </a:solidFill>
                <a:latin typeface="Arial"/>
                <a:ea typeface="Arial"/>
                <a:cs typeface="Arial"/>
                <a:sym typeface="Arial"/>
              </a:rPr>
              <a:t>omponent</a:t>
            </a:r>
            <a:r>
              <a:rPr b="1" lang="en-US" sz="2400">
                <a:solidFill>
                  <a:srgbClr val="051D3A"/>
                </a:solidFill>
              </a:rPr>
              <a:t>s</a:t>
            </a:r>
            <a:r>
              <a:rPr b="1" i="0" lang="en-US" sz="2400" u="none" cap="none" strike="noStrike">
                <a:solidFill>
                  <a:srgbClr val="051D3A"/>
                </a:solidFill>
                <a:latin typeface="Arial"/>
                <a:ea typeface="Arial"/>
                <a:cs typeface="Arial"/>
                <a:sym typeface="Arial"/>
              </a:rPr>
              <a:t> Used </a:t>
            </a:r>
            <a:endParaRPr b="1" i="0" sz="2400" u="none" cap="none" strike="noStrike">
              <a:solidFill>
                <a:srgbClr val="000000"/>
              </a:solidFill>
              <a:latin typeface="Arial"/>
              <a:ea typeface="Arial"/>
              <a:cs typeface="Arial"/>
              <a:sym typeface="Arial"/>
            </a:endParaRPr>
          </a:p>
        </p:txBody>
      </p:sp>
      <p:sp>
        <p:nvSpPr>
          <p:cNvPr id="147" name="Google Shape;147;p21"/>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48" name="Google Shape;148;p21"/>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49" name="Google Shape;149;p21"/>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50" name="Google Shape;150;p21"/>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51" name="Google Shape;151;p21"/>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52" name="Google Shape;152;p21"/>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53" name="Google Shape;153;p21"/>
          <p:cNvSpPr txBox="1"/>
          <p:nvPr/>
        </p:nvSpPr>
        <p:spPr>
          <a:xfrm>
            <a:off x="537600" y="1007575"/>
            <a:ext cx="11351700" cy="4833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lang="en-US">
                <a:solidFill>
                  <a:schemeClr val="dk1"/>
                </a:solidFill>
              </a:rPr>
              <a:t>1) Chat Input</a:t>
            </a:r>
            <a:endParaRPr b="1">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Used to capture user queries such as crop type, observed symptoms, and environmental conditions.</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Acts as the entry point of the system for user interaction.</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Enables natural language communication with the AI system.</a:t>
            </a:r>
            <a:endParaRPr>
              <a:solidFill>
                <a:schemeClr val="dk1"/>
              </a:solidFill>
            </a:endParaRPr>
          </a:p>
          <a:p>
            <a:pPr indent="0" lvl="0" marL="0" marR="0" rtl="0" algn="just">
              <a:lnSpc>
                <a:spcPct val="100000"/>
              </a:lnSpc>
              <a:spcBef>
                <a:spcPts val="0"/>
              </a:spcBef>
              <a:spcAft>
                <a:spcPts val="0"/>
              </a:spcAft>
              <a:buNone/>
            </a:pPr>
            <a:r>
              <a:t/>
            </a:r>
            <a:endParaRPr b="1">
              <a:solidFill>
                <a:schemeClr val="dk1"/>
              </a:solidFill>
            </a:endParaRPr>
          </a:p>
          <a:p>
            <a:pPr indent="0" lvl="0" marL="0" marR="0" rtl="0" algn="just">
              <a:lnSpc>
                <a:spcPct val="100000"/>
              </a:lnSpc>
              <a:spcBef>
                <a:spcPts val="0"/>
              </a:spcBef>
              <a:spcAft>
                <a:spcPts val="0"/>
              </a:spcAft>
              <a:buNone/>
            </a:pPr>
            <a:r>
              <a:t/>
            </a:r>
            <a:endParaRPr b="1">
              <a:solidFill>
                <a:schemeClr val="dk1"/>
              </a:solidFill>
            </a:endParaRPr>
          </a:p>
          <a:p>
            <a:pPr indent="0" lvl="0" marL="0" marR="0" rtl="0" algn="just">
              <a:lnSpc>
                <a:spcPct val="100000"/>
              </a:lnSpc>
              <a:spcBef>
                <a:spcPts val="0"/>
              </a:spcBef>
              <a:spcAft>
                <a:spcPts val="0"/>
              </a:spcAft>
              <a:buNone/>
            </a:pPr>
            <a:r>
              <a:rPr b="1" lang="en-US">
                <a:solidFill>
                  <a:schemeClr val="dk1"/>
                </a:solidFill>
              </a:rPr>
              <a:t>2) IBM watsonx AI Agent</a:t>
            </a:r>
            <a:endParaRPr b="1">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Serves as the core intelligence of the system.</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Powered by IBM watsonx.ai (Granite model).</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Performs reasoning, decision-making, and orchestration of tools such as retrieval and web search.</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Integrates Agentic AI behavior to analyze inputs and generate accurate recommendations.</a:t>
            </a:r>
            <a:endParaRPr>
              <a:solidFill>
                <a:schemeClr val="dk1"/>
              </a:solidFill>
            </a:endParaRPr>
          </a:p>
          <a:p>
            <a:pPr indent="0" lvl="0" marL="0" marR="0" rtl="0" algn="just">
              <a:lnSpc>
                <a:spcPct val="100000"/>
              </a:lnSpc>
              <a:spcBef>
                <a:spcPts val="0"/>
              </a:spcBef>
              <a:spcAft>
                <a:spcPts val="0"/>
              </a:spcAft>
              <a:buNone/>
            </a:pPr>
            <a:r>
              <a:t/>
            </a:r>
            <a:endParaRPr b="1">
              <a:solidFill>
                <a:schemeClr val="dk1"/>
              </a:solidFill>
            </a:endParaRPr>
          </a:p>
          <a:p>
            <a:pPr indent="0" lvl="0" marL="0" marR="0" rtl="0" algn="just">
              <a:lnSpc>
                <a:spcPct val="100000"/>
              </a:lnSpc>
              <a:spcBef>
                <a:spcPts val="0"/>
              </a:spcBef>
              <a:spcAft>
                <a:spcPts val="0"/>
              </a:spcAft>
              <a:buNone/>
            </a:pPr>
            <a:r>
              <a:t/>
            </a:r>
            <a:endParaRPr b="1">
              <a:solidFill>
                <a:schemeClr val="dk1"/>
              </a:solidFill>
            </a:endParaRPr>
          </a:p>
          <a:p>
            <a:pPr indent="0" lvl="0" marL="0" marR="0" rtl="0" algn="just">
              <a:lnSpc>
                <a:spcPct val="100000"/>
              </a:lnSpc>
              <a:spcBef>
                <a:spcPts val="0"/>
              </a:spcBef>
              <a:spcAft>
                <a:spcPts val="0"/>
              </a:spcAft>
              <a:buNone/>
            </a:pPr>
            <a:r>
              <a:rPr b="1" lang="en-US">
                <a:solidFill>
                  <a:schemeClr val="dk1"/>
                </a:solidFill>
              </a:rPr>
              <a:t>3) File Component</a:t>
            </a:r>
            <a:endParaRPr b="1">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Allows uploading agricultural documents, datasets, or reference material.</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Used to provide domain-specific knowledge that can be processed and stored for retrieval.</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Supports knowledge enrichment for more accurate responses.</a:t>
            </a:r>
            <a:endParaRPr>
              <a:solidFill>
                <a:schemeClr val="dk1"/>
              </a:solidFill>
            </a:endParaRPr>
          </a:p>
          <a:p>
            <a:pPr indent="0" lvl="0" marL="0" marR="0" rtl="0" algn="just">
              <a:lnSpc>
                <a:spcPct val="100000"/>
              </a:lnSpc>
              <a:spcBef>
                <a:spcPts val="0"/>
              </a:spcBef>
              <a:spcAft>
                <a:spcPts val="0"/>
              </a:spcAft>
              <a:buNone/>
            </a:pPr>
            <a:r>
              <a:t/>
            </a:r>
            <a:endParaRPr b="1">
              <a:solidFill>
                <a:schemeClr val="dk1"/>
              </a:solidFill>
            </a:endParaRPr>
          </a:p>
          <a:p>
            <a:pPr indent="0" lvl="0" marL="0" marR="0" rtl="0" algn="just">
              <a:lnSpc>
                <a:spcPct val="100000"/>
              </a:lnSpc>
              <a:spcBef>
                <a:spcPts val="0"/>
              </a:spcBef>
              <a:spcAft>
                <a:spcPts val="0"/>
              </a:spcAft>
              <a:buNone/>
            </a:pPr>
            <a:r>
              <a:rPr b="1" lang="en-US">
                <a:solidFill>
                  <a:schemeClr val="dk1"/>
                </a:solidFill>
              </a:rPr>
              <a:t>4) Vector Store (AstraDB)</a:t>
            </a:r>
            <a:endParaRPr b="1">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Stores vector embeddings of agricultural data.</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Enables semantic search to retrieve relevant context.</a:t>
            </a:r>
            <a:endParaRPr>
              <a:solidFill>
                <a:schemeClr val="dk1"/>
              </a:solidFill>
            </a:endParaRPr>
          </a:p>
          <a:p>
            <a:pPr indent="-317500" lvl="0" marL="457200" marR="0" rtl="0" algn="just">
              <a:lnSpc>
                <a:spcPct val="100000"/>
              </a:lnSpc>
              <a:spcBef>
                <a:spcPts val="0"/>
              </a:spcBef>
              <a:spcAft>
                <a:spcPts val="0"/>
              </a:spcAft>
              <a:buClr>
                <a:schemeClr val="dk1"/>
              </a:buClr>
              <a:buSzPts val="1400"/>
              <a:buChar char="●"/>
            </a:pPr>
            <a:r>
              <a:rPr lang="en-US">
                <a:solidFill>
                  <a:schemeClr val="dk1"/>
                </a:solidFill>
              </a:rPr>
              <a:t>Supports Retrieval-Augmented Generation (RAG) for improved response quality.</a:t>
            </a:r>
            <a:endParaRPr b="1">
              <a:solidFill>
                <a:schemeClr val="dk1"/>
              </a:solidFill>
            </a:endParaRPr>
          </a:p>
        </p:txBody>
      </p:sp>
      <p:pic>
        <p:nvPicPr>
          <p:cNvPr id="154" name="Google Shape;154;p21"/>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p:nvPr/>
        </p:nvSpPr>
        <p:spPr>
          <a:xfrm>
            <a:off x="537590" y="323239"/>
            <a:ext cx="5908800" cy="44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51D3A"/>
                </a:solidFill>
                <a:latin typeface="Arial"/>
                <a:ea typeface="Arial"/>
                <a:cs typeface="Arial"/>
                <a:sym typeface="Arial"/>
              </a:rPr>
              <a:t>Langflow </a:t>
            </a:r>
            <a:r>
              <a:rPr b="1" lang="en-US" sz="2400">
                <a:solidFill>
                  <a:srgbClr val="051D3A"/>
                </a:solidFill>
              </a:rPr>
              <a:t>C</a:t>
            </a:r>
            <a:r>
              <a:rPr b="1" i="0" lang="en-US" sz="2400" u="none" cap="none" strike="noStrike">
                <a:solidFill>
                  <a:srgbClr val="051D3A"/>
                </a:solidFill>
                <a:latin typeface="Arial"/>
                <a:ea typeface="Arial"/>
                <a:cs typeface="Arial"/>
                <a:sym typeface="Arial"/>
              </a:rPr>
              <a:t>omponent</a:t>
            </a:r>
            <a:r>
              <a:rPr b="1" lang="en-US" sz="2400">
                <a:solidFill>
                  <a:srgbClr val="051D3A"/>
                </a:solidFill>
              </a:rPr>
              <a:t>s</a:t>
            </a:r>
            <a:r>
              <a:rPr b="1" i="0" lang="en-US" sz="2400" u="none" cap="none" strike="noStrike">
                <a:solidFill>
                  <a:srgbClr val="051D3A"/>
                </a:solidFill>
                <a:latin typeface="Arial"/>
                <a:ea typeface="Arial"/>
                <a:cs typeface="Arial"/>
                <a:sym typeface="Arial"/>
              </a:rPr>
              <a:t> Used </a:t>
            </a:r>
            <a:endParaRPr b="1" i="0" sz="2400" u="none" cap="none" strike="noStrike">
              <a:solidFill>
                <a:srgbClr val="000000"/>
              </a:solidFill>
              <a:latin typeface="Arial"/>
              <a:ea typeface="Arial"/>
              <a:cs typeface="Arial"/>
              <a:sym typeface="Arial"/>
            </a:endParaRPr>
          </a:p>
        </p:txBody>
      </p:sp>
      <p:sp>
        <p:nvSpPr>
          <p:cNvPr id="160" name="Google Shape;160;p22"/>
          <p:cNvSpPr/>
          <p:nvPr/>
        </p:nvSpPr>
        <p:spPr>
          <a:xfrm>
            <a:off x="2264331" y="6784578"/>
            <a:ext cx="2140800" cy="224100"/>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61" name="Google Shape;161;p22"/>
          <p:cNvSpPr/>
          <p:nvPr/>
        </p:nvSpPr>
        <p:spPr>
          <a:xfrm>
            <a:off x="1782604" y="7100213"/>
            <a:ext cx="3104100" cy="732000"/>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62" name="Google Shape;162;p22"/>
          <p:cNvSpPr/>
          <p:nvPr/>
        </p:nvSpPr>
        <p:spPr>
          <a:xfrm>
            <a:off x="5732383" y="6784578"/>
            <a:ext cx="1794000" cy="224100"/>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63" name="Google Shape;163;p22"/>
          <p:cNvSpPr/>
          <p:nvPr/>
        </p:nvSpPr>
        <p:spPr>
          <a:xfrm>
            <a:off x="5077301" y="7100213"/>
            <a:ext cx="3104100" cy="732000"/>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64" name="Google Shape;164;p22"/>
          <p:cNvSpPr/>
          <p:nvPr/>
        </p:nvSpPr>
        <p:spPr>
          <a:xfrm>
            <a:off x="9027081" y="6784578"/>
            <a:ext cx="1794000" cy="224100"/>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65" name="Google Shape;165;p22"/>
          <p:cNvSpPr/>
          <p:nvPr/>
        </p:nvSpPr>
        <p:spPr>
          <a:xfrm>
            <a:off x="8371999" y="7100213"/>
            <a:ext cx="3104100" cy="732000"/>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66" name="Google Shape;166;p22"/>
          <p:cNvSpPr txBox="1"/>
          <p:nvPr/>
        </p:nvSpPr>
        <p:spPr>
          <a:xfrm>
            <a:off x="537600" y="1007575"/>
            <a:ext cx="11351700" cy="3862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5) Web Search Tool (Tavily)</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Fetches real-time information related to pest outbreaks, weather impact, or treatment methods.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Ensures responses are current and reliable.</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6) Chat Output</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Displays the final AI-generated response to the user.</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Provides pest or disease identification, preventive measures, and treatment recommendations in a user-friendly format.</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7) Prompt Template</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Structures user input and system instructions.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Ensures consistent and effective communication with the LLM.</a:t>
            </a:r>
            <a:endParaRPr sz="1600">
              <a:solidFill>
                <a:schemeClr val="dk1"/>
              </a:solidFill>
            </a:endParaRPr>
          </a:p>
          <a:p>
            <a:pPr indent="0" lvl="0" marL="0" marR="0" rtl="0" algn="just">
              <a:lnSpc>
                <a:spcPct val="100000"/>
              </a:lnSpc>
              <a:spcBef>
                <a:spcPts val="1200"/>
              </a:spcBef>
              <a:spcAft>
                <a:spcPts val="0"/>
              </a:spcAft>
              <a:buNone/>
            </a:pPr>
            <a:r>
              <a:t/>
            </a:r>
            <a:endParaRPr b="1" sz="1600">
              <a:solidFill>
                <a:schemeClr val="dk1"/>
              </a:solidFill>
            </a:endParaRPr>
          </a:p>
        </p:txBody>
      </p:sp>
      <p:pic>
        <p:nvPicPr>
          <p:cNvPr id="167" name="Google Shape;167;p22"/>
          <p:cNvPicPr preferRelativeResize="0"/>
          <p:nvPr/>
        </p:nvPicPr>
        <p:blipFill rotWithShape="1">
          <a:blip r:embed="rId3">
            <a:alphaModFix/>
          </a:blip>
          <a:srcRect b="0" l="0" r="0" t="0"/>
          <a:stretch/>
        </p:blipFill>
        <p:spPr>
          <a:xfrm>
            <a:off x="335797" y="6315517"/>
            <a:ext cx="11520405" cy="3100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nvSpPr>
        <p:spPr>
          <a:xfrm>
            <a:off x="3780946" y="139189"/>
            <a:ext cx="4684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Input Screenshot 1 </a:t>
            </a:r>
            <a:endParaRPr b="0" i="0" sz="2800" u="none" cap="none" strike="noStrike">
              <a:solidFill>
                <a:srgbClr val="000000"/>
              </a:solidFill>
              <a:latin typeface="Arial"/>
              <a:ea typeface="Arial"/>
              <a:cs typeface="Arial"/>
              <a:sym typeface="Arial"/>
            </a:endParaRPr>
          </a:p>
        </p:txBody>
      </p:sp>
      <p:pic>
        <p:nvPicPr>
          <p:cNvPr id="173" name="Google Shape;173;p23"/>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pic>
        <p:nvPicPr>
          <p:cNvPr id="174" name="Google Shape;174;p23"/>
          <p:cNvPicPr preferRelativeResize="0"/>
          <p:nvPr/>
        </p:nvPicPr>
        <p:blipFill>
          <a:blip r:embed="rId4">
            <a:alphaModFix/>
          </a:blip>
          <a:stretch>
            <a:fillRect/>
          </a:stretch>
        </p:blipFill>
        <p:spPr>
          <a:xfrm>
            <a:off x="549275" y="814804"/>
            <a:ext cx="11241416" cy="5348313"/>
          </a:xfrm>
          <a:prstGeom prst="rect">
            <a:avLst/>
          </a:prstGeom>
          <a:noFill/>
          <a:ln cap="flat" cmpd="sng" w="19050">
            <a:solidFill>
              <a:srgbClr val="9900FF"/>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nvSpPr>
        <p:spPr>
          <a:xfrm>
            <a:off x="3816998" y="86050"/>
            <a:ext cx="3527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Input Screenshot 2</a:t>
            </a:r>
            <a:endParaRPr sz="2800"/>
          </a:p>
        </p:txBody>
      </p:sp>
      <p:pic>
        <p:nvPicPr>
          <p:cNvPr id="180" name="Google Shape;180;p24"/>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pic>
        <p:nvPicPr>
          <p:cNvPr id="181" name="Google Shape;181;p24"/>
          <p:cNvPicPr preferRelativeResize="0"/>
          <p:nvPr/>
        </p:nvPicPr>
        <p:blipFill>
          <a:blip r:embed="rId4">
            <a:alphaModFix/>
          </a:blip>
          <a:stretch>
            <a:fillRect/>
          </a:stretch>
        </p:blipFill>
        <p:spPr>
          <a:xfrm>
            <a:off x="335800" y="680000"/>
            <a:ext cx="11325650" cy="5376574"/>
          </a:xfrm>
          <a:prstGeom prst="rect">
            <a:avLst/>
          </a:prstGeom>
          <a:noFill/>
          <a:ln cap="flat" cmpd="sng" w="19050">
            <a:solidFill>
              <a:srgbClr val="9900FF"/>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nvSpPr>
        <p:spPr>
          <a:xfrm>
            <a:off x="4081575" y="138950"/>
            <a:ext cx="344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t>Agent 1 </a:t>
            </a:r>
            <a:r>
              <a:rPr b="1" i="0" lang="en-US" sz="2400" u="none" cap="none" strike="noStrike">
                <a:solidFill>
                  <a:srgbClr val="000000"/>
                </a:solidFill>
                <a:latin typeface="Arial"/>
                <a:ea typeface="Arial"/>
                <a:cs typeface="Arial"/>
                <a:sym typeface="Arial"/>
              </a:rPr>
              <a:t>Screenshot </a:t>
            </a:r>
            <a:endParaRPr sz="2400"/>
          </a:p>
        </p:txBody>
      </p:sp>
      <p:pic>
        <p:nvPicPr>
          <p:cNvPr id="187" name="Google Shape;187;p25"/>
          <p:cNvPicPr preferRelativeResize="0"/>
          <p:nvPr/>
        </p:nvPicPr>
        <p:blipFill rotWithShape="1">
          <a:blip r:embed="rId3">
            <a:alphaModFix/>
          </a:blip>
          <a:srcRect b="0" l="0" r="0" t="0"/>
          <a:stretch/>
        </p:blipFill>
        <p:spPr>
          <a:xfrm>
            <a:off x="335797" y="6315517"/>
            <a:ext cx="11520405" cy="310052"/>
          </a:xfrm>
          <a:prstGeom prst="rect">
            <a:avLst/>
          </a:prstGeom>
          <a:noFill/>
          <a:ln>
            <a:noFill/>
          </a:ln>
        </p:spPr>
      </p:pic>
      <p:pic>
        <p:nvPicPr>
          <p:cNvPr id="188" name="Google Shape;188;p25"/>
          <p:cNvPicPr preferRelativeResize="0"/>
          <p:nvPr/>
        </p:nvPicPr>
        <p:blipFill>
          <a:blip r:embed="rId4">
            <a:alphaModFix/>
          </a:blip>
          <a:stretch>
            <a:fillRect/>
          </a:stretch>
        </p:blipFill>
        <p:spPr>
          <a:xfrm>
            <a:off x="2905950" y="753055"/>
            <a:ext cx="6380096" cy="541006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nvSpPr>
        <p:spPr>
          <a:xfrm>
            <a:off x="4504925" y="231550"/>
            <a:ext cx="3435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t>Agent 2</a:t>
            </a:r>
            <a:r>
              <a:rPr b="1" i="0" lang="en-US" sz="2400" u="none" cap="none" strike="noStrike">
                <a:solidFill>
                  <a:srgbClr val="000000"/>
                </a:solidFill>
                <a:latin typeface="Arial"/>
                <a:ea typeface="Arial"/>
                <a:cs typeface="Arial"/>
                <a:sym typeface="Arial"/>
              </a:rPr>
              <a:t> Screenshot</a:t>
            </a:r>
            <a:endParaRPr/>
          </a:p>
        </p:txBody>
      </p:sp>
      <p:pic>
        <p:nvPicPr>
          <p:cNvPr id="194" name="Google Shape;194;p26"/>
          <p:cNvPicPr preferRelativeResize="0"/>
          <p:nvPr/>
        </p:nvPicPr>
        <p:blipFill rotWithShape="1">
          <a:blip r:embed="rId3">
            <a:alphaModFix/>
          </a:blip>
          <a:srcRect b="0" l="0" r="0" t="0"/>
          <a:stretch/>
        </p:blipFill>
        <p:spPr>
          <a:xfrm>
            <a:off x="335797" y="6315517"/>
            <a:ext cx="11520405" cy="310052"/>
          </a:xfrm>
          <a:prstGeom prst="rect">
            <a:avLst/>
          </a:prstGeom>
          <a:noFill/>
          <a:ln>
            <a:noFill/>
          </a:ln>
        </p:spPr>
      </p:pic>
      <p:pic>
        <p:nvPicPr>
          <p:cNvPr id="195" name="Google Shape;195;p26"/>
          <p:cNvPicPr preferRelativeResize="0"/>
          <p:nvPr/>
        </p:nvPicPr>
        <p:blipFill>
          <a:blip r:embed="rId4">
            <a:alphaModFix/>
          </a:blip>
          <a:stretch>
            <a:fillRect/>
          </a:stretch>
        </p:blipFill>
        <p:spPr>
          <a:xfrm>
            <a:off x="2359025" y="1070555"/>
            <a:ext cx="7648575" cy="44481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nvSpPr>
        <p:spPr>
          <a:xfrm>
            <a:off x="4412299" y="99275"/>
            <a:ext cx="3779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t>Agent 3 </a:t>
            </a:r>
            <a:r>
              <a:rPr b="1" i="0" lang="en-US" sz="2400" u="none" cap="none" strike="noStrike">
                <a:solidFill>
                  <a:srgbClr val="000000"/>
                </a:solidFill>
                <a:latin typeface="Arial"/>
                <a:ea typeface="Arial"/>
                <a:cs typeface="Arial"/>
                <a:sym typeface="Arial"/>
              </a:rPr>
              <a:t>Screenshot</a:t>
            </a:r>
            <a:endParaRPr/>
          </a:p>
        </p:txBody>
      </p:sp>
      <p:pic>
        <p:nvPicPr>
          <p:cNvPr id="201" name="Google Shape;201;p27"/>
          <p:cNvPicPr preferRelativeResize="0"/>
          <p:nvPr/>
        </p:nvPicPr>
        <p:blipFill rotWithShape="1">
          <a:blip r:embed="rId3">
            <a:alphaModFix/>
          </a:blip>
          <a:srcRect b="0" l="0" r="0" t="0"/>
          <a:stretch/>
        </p:blipFill>
        <p:spPr>
          <a:xfrm>
            <a:off x="335797" y="6315517"/>
            <a:ext cx="11520405" cy="310052"/>
          </a:xfrm>
          <a:prstGeom prst="rect">
            <a:avLst/>
          </a:prstGeom>
          <a:noFill/>
          <a:ln>
            <a:noFill/>
          </a:ln>
        </p:spPr>
      </p:pic>
      <p:pic>
        <p:nvPicPr>
          <p:cNvPr id="202" name="Google Shape;202;p27"/>
          <p:cNvPicPr preferRelativeResize="0"/>
          <p:nvPr/>
        </p:nvPicPr>
        <p:blipFill>
          <a:blip r:embed="rId4">
            <a:alphaModFix/>
          </a:blip>
          <a:stretch>
            <a:fillRect/>
          </a:stretch>
        </p:blipFill>
        <p:spPr>
          <a:xfrm>
            <a:off x="3287070" y="676275"/>
            <a:ext cx="5355280" cy="570806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nvSpPr>
        <p:spPr>
          <a:xfrm>
            <a:off x="4280000" y="72800"/>
            <a:ext cx="332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t>Outp</a:t>
            </a:r>
            <a:r>
              <a:rPr b="1" i="0" lang="en-US" sz="2400" u="none" cap="none" strike="noStrike">
                <a:solidFill>
                  <a:srgbClr val="000000"/>
                </a:solidFill>
                <a:latin typeface="Arial"/>
                <a:ea typeface="Arial"/>
                <a:cs typeface="Arial"/>
                <a:sym typeface="Arial"/>
              </a:rPr>
              <a:t>ut Screenshot </a:t>
            </a:r>
            <a:r>
              <a:rPr b="1" lang="en-US" sz="2400"/>
              <a:t>1</a:t>
            </a:r>
            <a:endParaRPr/>
          </a:p>
        </p:txBody>
      </p:sp>
      <p:pic>
        <p:nvPicPr>
          <p:cNvPr id="208" name="Google Shape;208;p28"/>
          <p:cNvPicPr preferRelativeResize="0"/>
          <p:nvPr/>
        </p:nvPicPr>
        <p:blipFill rotWithShape="1">
          <a:blip r:embed="rId3">
            <a:alphaModFix/>
          </a:blip>
          <a:srcRect b="0" l="0" r="0" t="0"/>
          <a:stretch/>
        </p:blipFill>
        <p:spPr>
          <a:xfrm>
            <a:off x="335797" y="6315517"/>
            <a:ext cx="11520405" cy="310052"/>
          </a:xfrm>
          <a:prstGeom prst="rect">
            <a:avLst/>
          </a:prstGeom>
          <a:noFill/>
          <a:ln>
            <a:noFill/>
          </a:ln>
        </p:spPr>
      </p:pic>
      <p:pic>
        <p:nvPicPr>
          <p:cNvPr id="209" name="Google Shape;209;p28"/>
          <p:cNvPicPr preferRelativeResize="0"/>
          <p:nvPr/>
        </p:nvPicPr>
        <p:blipFill>
          <a:blip r:embed="rId4">
            <a:alphaModFix/>
          </a:blip>
          <a:stretch>
            <a:fillRect/>
          </a:stretch>
        </p:blipFill>
        <p:spPr>
          <a:xfrm>
            <a:off x="152400" y="753055"/>
            <a:ext cx="11887201" cy="497634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nvSpPr>
        <p:spPr>
          <a:xfrm>
            <a:off x="3869901" y="138950"/>
            <a:ext cx="3448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t>Out</a:t>
            </a:r>
            <a:r>
              <a:rPr b="1" i="0" lang="en-US" sz="2400" u="none" cap="none" strike="noStrike">
                <a:solidFill>
                  <a:srgbClr val="000000"/>
                </a:solidFill>
                <a:latin typeface="Arial"/>
                <a:ea typeface="Arial"/>
                <a:cs typeface="Arial"/>
                <a:sym typeface="Arial"/>
              </a:rPr>
              <a:t>put Screenshot </a:t>
            </a:r>
            <a:r>
              <a:rPr b="1" lang="en-US" sz="2400"/>
              <a:t>2</a:t>
            </a:r>
            <a:endParaRPr/>
          </a:p>
        </p:txBody>
      </p:sp>
      <p:pic>
        <p:nvPicPr>
          <p:cNvPr id="215" name="Google Shape;215;p29"/>
          <p:cNvPicPr preferRelativeResize="0"/>
          <p:nvPr/>
        </p:nvPicPr>
        <p:blipFill rotWithShape="1">
          <a:blip r:embed="rId3">
            <a:alphaModFix/>
          </a:blip>
          <a:srcRect b="0" l="0" r="0" t="0"/>
          <a:stretch/>
        </p:blipFill>
        <p:spPr>
          <a:xfrm>
            <a:off x="335797" y="6315517"/>
            <a:ext cx="11520405" cy="310052"/>
          </a:xfrm>
          <a:prstGeom prst="rect">
            <a:avLst/>
          </a:prstGeom>
          <a:noFill/>
          <a:ln>
            <a:noFill/>
          </a:ln>
        </p:spPr>
      </p:pic>
      <p:pic>
        <p:nvPicPr>
          <p:cNvPr id="216" name="Google Shape;216;p29"/>
          <p:cNvPicPr preferRelativeResize="0"/>
          <p:nvPr/>
        </p:nvPicPr>
        <p:blipFill>
          <a:blip r:embed="rId4">
            <a:alphaModFix/>
          </a:blip>
          <a:stretch>
            <a:fillRect/>
          </a:stretch>
        </p:blipFill>
        <p:spPr>
          <a:xfrm>
            <a:off x="152400" y="753055"/>
            <a:ext cx="11887200" cy="4867406"/>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nvSpPr>
        <p:spPr>
          <a:xfrm>
            <a:off x="4240323" y="138951"/>
            <a:ext cx="3369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t>Out</a:t>
            </a:r>
            <a:r>
              <a:rPr b="1" i="0" lang="en-US" sz="2400" u="none" cap="none" strike="noStrike">
                <a:solidFill>
                  <a:srgbClr val="000000"/>
                </a:solidFill>
                <a:latin typeface="Arial"/>
                <a:ea typeface="Arial"/>
                <a:cs typeface="Arial"/>
                <a:sym typeface="Arial"/>
              </a:rPr>
              <a:t>put Screenshot </a:t>
            </a:r>
            <a:r>
              <a:rPr b="1" lang="en-US" sz="2400"/>
              <a:t>3</a:t>
            </a:r>
            <a:endParaRPr/>
          </a:p>
        </p:txBody>
      </p:sp>
      <p:pic>
        <p:nvPicPr>
          <p:cNvPr id="222" name="Google Shape;222;p30"/>
          <p:cNvPicPr preferRelativeResize="0"/>
          <p:nvPr/>
        </p:nvPicPr>
        <p:blipFill rotWithShape="1">
          <a:blip r:embed="rId3">
            <a:alphaModFix/>
          </a:blip>
          <a:srcRect b="0" l="0" r="0" t="0"/>
          <a:stretch/>
        </p:blipFill>
        <p:spPr>
          <a:xfrm>
            <a:off x="335797" y="6315517"/>
            <a:ext cx="11520405" cy="310052"/>
          </a:xfrm>
          <a:prstGeom prst="rect">
            <a:avLst/>
          </a:prstGeom>
          <a:noFill/>
          <a:ln>
            <a:noFill/>
          </a:ln>
        </p:spPr>
      </p:pic>
      <p:pic>
        <p:nvPicPr>
          <p:cNvPr id="223" name="Google Shape;223;p30"/>
          <p:cNvPicPr preferRelativeResize="0"/>
          <p:nvPr/>
        </p:nvPicPr>
        <p:blipFill>
          <a:blip r:embed="rId4">
            <a:alphaModFix/>
          </a:blip>
          <a:stretch>
            <a:fillRect/>
          </a:stretch>
        </p:blipFill>
        <p:spPr>
          <a:xfrm>
            <a:off x="152400" y="753055"/>
            <a:ext cx="11887201" cy="495680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p:nvPr/>
        </p:nvSpPr>
        <p:spPr>
          <a:xfrm>
            <a:off x="908050" y="452475"/>
            <a:ext cx="2955900" cy="585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none" cap="none" strike="noStrike">
                <a:solidFill>
                  <a:srgbClr val="051D3A"/>
                </a:solidFill>
                <a:latin typeface="Times New Roman"/>
                <a:ea typeface="Times New Roman"/>
                <a:cs typeface="Times New Roman"/>
                <a:sym typeface="Times New Roman"/>
              </a:rPr>
              <a:t>Future Scope </a:t>
            </a:r>
            <a:endParaRPr b="1" i="0" sz="2800" u="none" cap="none" strike="noStrike">
              <a:solidFill>
                <a:srgbClr val="000000"/>
              </a:solidFill>
              <a:latin typeface="Times New Roman"/>
              <a:ea typeface="Times New Roman"/>
              <a:cs typeface="Times New Roman"/>
              <a:sym typeface="Times New Roman"/>
            </a:endParaRPr>
          </a:p>
        </p:txBody>
      </p:sp>
      <p:sp>
        <p:nvSpPr>
          <p:cNvPr id="229" name="Google Shape;229;p31"/>
          <p:cNvSpPr/>
          <p:nvPr/>
        </p:nvSpPr>
        <p:spPr>
          <a:xfrm>
            <a:off x="908050" y="1290450"/>
            <a:ext cx="11856300" cy="4277100"/>
          </a:xfrm>
          <a:prstGeom prst="rect">
            <a:avLst/>
          </a:prstGeom>
          <a:noFill/>
          <a:ln>
            <a:noFill/>
          </a:ln>
        </p:spPr>
        <p:txBody>
          <a:bodyPr anchorCtr="0" anchor="t" bIns="0" lIns="0" spcFirstLastPara="1" rIns="0" wrap="square" tIns="0">
            <a:noAutofit/>
          </a:bodyPr>
          <a:lstStyle/>
          <a:p>
            <a:pPr indent="-330200" lvl="0" marL="457200" rtl="0" algn="just">
              <a:lnSpc>
                <a:spcPct val="115000"/>
              </a:lnSpc>
              <a:spcBef>
                <a:spcPts val="1200"/>
              </a:spcBef>
              <a:spcAft>
                <a:spcPts val="0"/>
              </a:spcAft>
              <a:buClr>
                <a:schemeClr val="dk1"/>
              </a:buClr>
              <a:buSzPts val="1600"/>
              <a:buChar char="●"/>
            </a:pPr>
            <a:r>
              <a:rPr b="1" lang="en-US" sz="1600">
                <a:solidFill>
                  <a:schemeClr val="dk1"/>
                </a:solidFill>
              </a:rPr>
              <a:t>Image-Based Pest and Disease Detection:</a:t>
            </a:r>
            <a:br>
              <a:rPr b="1" lang="en-US" sz="1600">
                <a:solidFill>
                  <a:schemeClr val="dk1"/>
                </a:solidFill>
              </a:rPr>
            </a:br>
            <a:r>
              <a:rPr lang="en-US" sz="1600">
                <a:solidFill>
                  <a:schemeClr val="dk1"/>
                </a:solidFill>
              </a:rPr>
              <a:t> Integrate image upload and computer vision models to identify pests and diseases directly from crop images.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Multilingual Support:</a:t>
            </a:r>
            <a:br>
              <a:rPr b="1" lang="en-US" sz="1600">
                <a:solidFill>
                  <a:schemeClr val="dk1"/>
                </a:solidFill>
              </a:rPr>
            </a:br>
            <a:r>
              <a:rPr lang="en-US" sz="1600">
                <a:solidFill>
                  <a:schemeClr val="dk1"/>
                </a:solidFill>
              </a:rPr>
              <a:t> Enable regional language support to make the system accessible to farmers across different regions.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IoT and Sensor Integration:</a:t>
            </a:r>
            <a:br>
              <a:rPr b="1" lang="en-US" sz="1600">
                <a:solidFill>
                  <a:schemeClr val="dk1"/>
                </a:solidFill>
              </a:rPr>
            </a:br>
            <a:r>
              <a:rPr lang="en-US" sz="1600">
                <a:solidFill>
                  <a:schemeClr val="dk1"/>
                </a:solidFill>
              </a:rPr>
              <a:t> Incorporate data from soil, weather, and moisture sensors for more accurate, real-time analysis.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Personalized Crop Advisory:</a:t>
            </a:r>
            <a:br>
              <a:rPr b="1" lang="en-US" sz="1600">
                <a:solidFill>
                  <a:schemeClr val="dk1"/>
                </a:solidFill>
              </a:rPr>
            </a:br>
            <a:r>
              <a:rPr lang="en-US" sz="1600">
                <a:solidFill>
                  <a:schemeClr val="dk1"/>
                </a:solidFill>
              </a:rPr>
              <a:t> Provide customized recommendations based on location, crop history, and seasonal patterns.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Mobile Application Deployment:</a:t>
            </a:r>
            <a:br>
              <a:rPr b="1" lang="en-US" sz="1600">
                <a:solidFill>
                  <a:schemeClr val="dk1"/>
                </a:solidFill>
              </a:rPr>
            </a:br>
            <a:r>
              <a:rPr lang="en-US" sz="1600">
                <a:solidFill>
                  <a:schemeClr val="dk1"/>
                </a:solidFill>
              </a:rPr>
              <a:t> Develop a mobile app for easy access in rural and remote areas.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Predictive Analytics:</a:t>
            </a:r>
            <a:br>
              <a:rPr b="1" lang="en-US" sz="1600">
                <a:solidFill>
                  <a:schemeClr val="dk1"/>
                </a:solidFill>
              </a:rPr>
            </a:br>
            <a:r>
              <a:rPr lang="en-US" sz="1600">
                <a:solidFill>
                  <a:schemeClr val="dk1"/>
                </a:solidFill>
              </a:rPr>
              <a:t> Use historical data to predict pest outbreaks and issue early warnings.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b="1" lang="en-US" sz="1600">
                <a:solidFill>
                  <a:schemeClr val="dk1"/>
                </a:solidFill>
              </a:rPr>
              <a:t>Government &amp; Agri-Platform Integration:</a:t>
            </a:r>
            <a:br>
              <a:rPr b="1" lang="en-US" sz="1600">
                <a:solidFill>
                  <a:schemeClr val="dk1"/>
                </a:solidFill>
              </a:rPr>
            </a:br>
            <a:r>
              <a:rPr lang="en-US" sz="1600">
                <a:solidFill>
                  <a:schemeClr val="dk1"/>
                </a:solidFill>
              </a:rPr>
              <a:t> Integrate with agricultural portals and government databases for wider adoption and impact.</a:t>
            </a:r>
            <a:endParaRPr sz="1600">
              <a:solidFill>
                <a:schemeClr val="dk1"/>
              </a:solidFill>
            </a:endParaRPr>
          </a:p>
          <a:p>
            <a:pPr indent="0" lvl="0" marL="0" marR="0" rtl="0" algn="just">
              <a:lnSpc>
                <a:spcPct val="162162"/>
              </a:lnSpc>
              <a:spcBef>
                <a:spcPts val="1200"/>
              </a:spcBef>
              <a:spcAft>
                <a:spcPts val="0"/>
              </a:spcAft>
              <a:buClr>
                <a:srgbClr val="2B3541"/>
              </a:buClr>
              <a:buSzPts val="1850"/>
              <a:buFont typeface="Times New Roman"/>
              <a:buNone/>
            </a:pPr>
            <a:r>
              <a:t/>
            </a:r>
            <a:endParaRPr sz="1600">
              <a:solidFill>
                <a:srgbClr val="2B3541"/>
              </a:solidFill>
              <a:latin typeface="Times New Roman"/>
              <a:ea typeface="Times New Roman"/>
              <a:cs typeface="Times New Roman"/>
              <a:sym typeface="Times New Roman"/>
            </a:endParaRPr>
          </a:p>
        </p:txBody>
      </p:sp>
      <p:pic>
        <p:nvPicPr>
          <p:cNvPr id="230" name="Google Shape;230;p31"/>
          <p:cNvPicPr preferRelativeResize="0"/>
          <p:nvPr/>
        </p:nvPicPr>
        <p:blipFill rotWithShape="1">
          <a:blip r:embed="rId3">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3500" u="none" cap="none" strike="noStrike">
                <a:solidFill>
                  <a:srgbClr val="051D3A"/>
                </a:solidFill>
                <a:latin typeface="Times New Roman"/>
                <a:ea typeface="Times New Roman"/>
                <a:cs typeface="Times New Roman"/>
                <a:sym typeface="Times New Roman"/>
              </a:rPr>
              <a:t>Git Hub Link</a:t>
            </a:r>
            <a:endParaRPr b="1" i="0" sz="3500" u="none" cap="none" strike="noStrike">
              <a:solidFill>
                <a:srgbClr val="000000"/>
              </a:solidFill>
              <a:latin typeface="Times New Roman"/>
              <a:ea typeface="Times New Roman"/>
              <a:cs typeface="Times New Roman"/>
              <a:sym typeface="Times New Roman"/>
            </a:endParaRPr>
          </a:p>
        </p:txBody>
      </p:sp>
      <p:sp>
        <p:nvSpPr>
          <p:cNvPr id="236" name="Google Shape;236;p32"/>
          <p:cNvSpPr/>
          <p:nvPr/>
        </p:nvSpPr>
        <p:spPr>
          <a:xfrm>
            <a:off x="1282732" y="1393947"/>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T</a:t>
            </a:r>
            <a:r>
              <a:rPr b="0" i="0" lang="en-US" sz="1850" u="none" cap="none" strike="noStrike">
                <a:solidFill>
                  <a:srgbClr val="2B3541"/>
                </a:solidFill>
                <a:latin typeface="Times New Roman"/>
                <a:ea typeface="Times New Roman"/>
                <a:cs typeface="Times New Roman"/>
                <a:sym typeface="Times New Roman"/>
              </a:rPr>
              <a:t>he working  Github URL –  </a:t>
            </a:r>
            <a:r>
              <a:rPr lang="en-US" sz="1850" u="sng">
                <a:solidFill>
                  <a:schemeClr val="hlink"/>
                </a:solidFill>
                <a:latin typeface="Times New Roman"/>
                <a:ea typeface="Times New Roman"/>
                <a:cs typeface="Times New Roman"/>
                <a:sym typeface="Times New Roman"/>
                <a:hlinkClick r:id="rId3"/>
              </a:rPr>
              <a:t>Github Link</a:t>
            </a:r>
            <a:endParaRPr/>
          </a:p>
          <a:p>
            <a:pPr indent="0" lvl="0" marL="0" marR="0" rtl="0" algn="l">
              <a:lnSpc>
                <a:spcPct val="162162"/>
              </a:lnSpc>
              <a:spcBef>
                <a:spcPts val="0"/>
              </a:spcBef>
              <a:spcAft>
                <a:spcPts val="0"/>
              </a:spcAft>
              <a:buNone/>
            </a:pPr>
            <a:r>
              <a:rPr b="1" lang="en-US" sz="1850">
                <a:solidFill>
                  <a:srgbClr val="2B3541"/>
                </a:solidFill>
                <a:latin typeface="Times New Roman"/>
                <a:ea typeface="Times New Roman"/>
                <a:cs typeface="Times New Roman"/>
                <a:sym typeface="Times New Roman"/>
              </a:rPr>
              <a:t>We </a:t>
            </a:r>
            <a:r>
              <a:rPr b="1" i="0" lang="en-US" sz="1850" u="none" cap="none" strike="noStrike">
                <a:solidFill>
                  <a:srgbClr val="2B3541"/>
                </a:solidFill>
                <a:latin typeface="Times New Roman"/>
                <a:ea typeface="Times New Roman"/>
                <a:cs typeface="Times New Roman"/>
                <a:sym typeface="Times New Roman"/>
              </a:rPr>
              <a:t>have Uploaded the following three files into our github repository  </a:t>
            </a:r>
            <a:br>
              <a:rPr b="0" i="0" lang="en-US" sz="1850" u="none" cap="none" strike="noStrike">
                <a:solidFill>
                  <a:srgbClr val="2B3541"/>
                </a:solidFill>
                <a:latin typeface="Times New Roman"/>
                <a:ea typeface="Times New Roman"/>
                <a:cs typeface="Times New Roman"/>
                <a:sym typeface="Times New Roman"/>
              </a:rPr>
            </a:br>
            <a:r>
              <a:rPr b="0" i="0" lang="en-US" sz="1850" u="none" cap="none" strike="noStrike">
                <a:solidFill>
                  <a:srgbClr val="2B3541"/>
                </a:solidFill>
                <a:latin typeface="Times New Roman"/>
                <a:ea typeface="Times New Roman"/>
                <a:cs typeface="Times New Roman"/>
                <a:sym typeface="Times New Roman"/>
              </a:rPr>
              <a:t>1)  app.py file</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None/>
            </a:pPr>
            <a:r>
              <a:rPr b="0" i="0" lang="en-US" sz="1850" u="none" cap="none" strike="noStrike">
                <a:solidFill>
                  <a:srgbClr val="2B3541"/>
                </a:solidFill>
                <a:latin typeface="Times New Roman"/>
                <a:ea typeface="Times New Roman"/>
                <a:cs typeface="Times New Roman"/>
                <a:sym typeface="Times New Roman"/>
              </a:rPr>
              <a:t>2) </a:t>
            </a:r>
            <a:r>
              <a:rPr lang="en-US" sz="1850">
                <a:solidFill>
                  <a:srgbClr val="2B3541"/>
                </a:solidFill>
                <a:latin typeface="Times New Roman"/>
                <a:ea typeface="Times New Roman"/>
                <a:cs typeface="Times New Roman"/>
                <a:sym typeface="Times New Roman"/>
              </a:rPr>
              <a:t>P</a:t>
            </a:r>
            <a:r>
              <a:rPr b="0" i="0" lang="en-US" sz="1850" u="none" cap="none" strike="noStrike">
                <a:solidFill>
                  <a:srgbClr val="2B3541"/>
                </a:solidFill>
                <a:latin typeface="Times New Roman"/>
                <a:ea typeface="Times New Roman"/>
                <a:cs typeface="Times New Roman"/>
                <a:sym typeface="Times New Roman"/>
              </a:rPr>
              <a:t>roblem </a:t>
            </a:r>
            <a:r>
              <a:rPr lang="en-US" sz="1850">
                <a:solidFill>
                  <a:srgbClr val="2B3541"/>
                </a:solidFill>
                <a:latin typeface="Times New Roman"/>
                <a:ea typeface="Times New Roman"/>
                <a:cs typeface="Times New Roman"/>
                <a:sym typeface="Times New Roman"/>
              </a:rPr>
              <a:t>S</a:t>
            </a:r>
            <a:r>
              <a:rPr b="0" i="0" lang="en-US" sz="1850" u="none" cap="none" strike="noStrike">
                <a:solidFill>
                  <a:srgbClr val="2B3541"/>
                </a:solidFill>
                <a:latin typeface="Times New Roman"/>
                <a:ea typeface="Times New Roman"/>
                <a:cs typeface="Times New Roman"/>
                <a:sym typeface="Times New Roman"/>
              </a:rPr>
              <a:t>tatement.pdf file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None/>
            </a:pPr>
            <a:r>
              <a:rPr b="0" i="0" lang="en-US" sz="1850" u="none" cap="none" strike="noStrike">
                <a:solidFill>
                  <a:srgbClr val="2B3541"/>
                </a:solidFill>
                <a:latin typeface="Times New Roman"/>
                <a:ea typeface="Times New Roman"/>
                <a:cs typeface="Times New Roman"/>
                <a:sym typeface="Times New Roman"/>
              </a:rPr>
              <a:t>3) IBM Hackathon Pr</a:t>
            </a:r>
            <a:r>
              <a:rPr lang="en-US" sz="1850">
                <a:solidFill>
                  <a:srgbClr val="2B3541"/>
                </a:solidFill>
                <a:latin typeface="Times New Roman"/>
                <a:ea typeface="Times New Roman"/>
                <a:cs typeface="Times New Roman"/>
                <a:sym typeface="Times New Roman"/>
              </a:rPr>
              <a:t>oject Presentation</a:t>
            </a:r>
            <a:r>
              <a:rPr b="0" i="0" lang="en-US" sz="1850" u="none" cap="none" strike="noStrike">
                <a:solidFill>
                  <a:srgbClr val="2B3541"/>
                </a:solidFill>
                <a:latin typeface="Times New Roman"/>
                <a:ea typeface="Times New Roman"/>
                <a:cs typeface="Times New Roman"/>
                <a:sym typeface="Times New Roman"/>
              </a:rPr>
              <a:t>.pptx file </a:t>
            </a:r>
            <a:endParaRPr/>
          </a:p>
          <a:p>
            <a:pPr indent="0" lvl="0" marL="0" marR="0" rtl="0" algn="l">
              <a:lnSpc>
                <a:spcPct val="162162"/>
              </a:lnSpc>
              <a:spcBef>
                <a:spcPts val="0"/>
              </a:spcBef>
              <a:spcAft>
                <a:spcPts val="0"/>
              </a:spcAft>
              <a:buNone/>
            </a:pPr>
            <a:r>
              <a:rPr lang="en-US" sz="1850">
                <a:solidFill>
                  <a:srgbClr val="2B3541"/>
                </a:solidFill>
                <a:latin typeface="Times New Roman"/>
                <a:ea typeface="Times New Roman"/>
                <a:cs typeface="Times New Roman"/>
                <a:sym typeface="Times New Roman"/>
              </a:rPr>
              <a:t>4) Crop Pest and Disease Management agent (3) (1).json file</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None/>
            </a:pPr>
            <a:r>
              <a:rPr lang="en-US" sz="1850">
                <a:solidFill>
                  <a:srgbClr val="2B3541"/>
                </a:solidFill>
                <a:latin typeface="Times New Roman"/>
                <a:ea typeface="Times New Roman"/>
                <a:cs typeface="Times New Roman"/>
                <a:sym typeface="Times New Roman"/>
              </a:rPr>
              <a:t>5) README.md</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 </a:t>
            </a:r>
            <a:endParaRPr b="0" i="0" sz="1850" u="none" cap="none" strike="noStrike">
              <a:solidFill>
                <a:srgbClr val="000000"/>
              </a:solidFill>
              <a:latin typeface="Times New Roman"/>
              <a:ea typeface="Times New Roman"/>
              <a:cs typeface="Times New Roman"/>
              <a:sym typeface="Times New Roman"/>
            </a:endParaRPr>
          </a:p>
        </p:txBody>
      </p:sp>
      <p:pic>
        <p:nvPicPr>
          <p:cNvPr id="237" name="Google Shape;237;p32"/>
          <p:cNvPicPr preferRelativeResize="0"/>
          <p:nvPr/>
        </p:nvPicPr>
        <p:blipFill rotWithShape="1">
          <a:blip r:embed="rId4">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3500" u="none" cap="none" strike="noStrike">
                <a:solidFill>
                  <a:srgbClr val="051D3A"/>
                </a:solidFill>
                <a:latin typeface="Times New Roman"/>
                <a:ea typeface="Times New Roman"/>
                <a:cs typeface="Times New Roman"/>
                <a:sym typeface="Times New Roman"/>
              </a:rPr>
              <a:t>References </a:t>
            </a:r>
            <a:endParaRPr b="0" i="0" sz="1400" u="none" cap="none" strike="noStrike">
              <a:solidFill>
                <a:srgbClr val="000000"/>
              </a:solidFill>
              <a:latin typeface="Arial"/>
              <a:ea typeface="Arial"/>
              <a:cs typeface="Arial"/>
              <a:sym typeface="Arial"/>
            </a:endParaRPr>
          </a:p>
        </p:txBody>
      </p:sp>
      <p:sp>
        <p:nvSpPr>
          <p:cNvPr id="243" name="Google Shape;243;p33"/>
          <p:cNvSpPr/>
          <p:nvPr/>
        </p:nvSpPr>
        <p:spPr>
          <a:xfrm>
            <a:off x="1282732" y="1393947"/>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Source: YouTube </a:t>
            </a:r>
            <a:r>
              <a:rPr lang="en-US" sz="1850" u="sng">
                <a:solidFill>
                  <a:schemeClr val="hlink"/>
                </a:solidFill>
                <a:latin typeface="Times New Roman"/>
                <a:ea typeface="Times New Roman"/>
                <a:cs typeface="Times New Roman"/>
                <a:sym typeface="Times New Roman"/>
                <a:hlinkClick r:id="rId3"/>
              </a:rPr>
              <a:t>https://share.google/9FAS6Z2S32z4MFhzl</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                             </a:t>
            </a:r>
            <a:r>
              <a:rPr lang="en-US" sz="1850" u="sng">
                <a:solidFill>
                  <a:schemeClr val="hlink"/>
                </a:solidFill>
                <a:latin typeface="Times New Roman"/>
                <a:ea typeface="Times New Roman"/>
                <a:cs typeface="Times New Roman"/>
                <a:sym typeface="Times New Roman"/>
                <a:hlinkClick r:id="rId4"/>
              </a:rPr>
              <a:t>https://youtu.be/uA6sL65UNi4?si=T-5e6e5ES_IKts7U</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Source: Langflow </a:t>
            </a:r>
            <a:r>
              <a:rPr lang="en-US" sz="1850" u="sng">
                <a:solidFill>
                  <a:schemeClr val="hlink"/>
                </a:solidFill>
                <a:latin typeface="Times New Roman"/>
                <a:ea typeface="Times New Roman"/>
                <a:cs typeface="Times New Roman"/>
                <a:sym typeface="Times New Roman"/>
                <a:hlinkClick r:id="rId5"/>
              </a:rPr>
              <a:t>https://share.google/lwddWimTRhA4eREAG</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Source: YouTube </a:t>
            </a:r>
            <a:r>
              <a:rPr lang="en-US" sz="1850" u="sng">
                <a:solidFill>
                  <a:schemeClr val="hlink"/>
                </a:solidFill>
                <a:latin typeface="Times New Roman"/>
                <a:ea typeface="Times New Roman"/>
                <a:cs typeface="Times New Roman"/>
                <a:sym typeface="Times New Roman"/>
                <a:hlinkClick r:id="rId6"/>
              </a:rPr>
              <a:t>https://share.google/yQPUyApPB35UOG4Bt</a:t>
            </a:r>
            <a:endParaRPr sz="1850">
              <a:solidFill>
                <a:srgbClr val="2B3541"/>
              </a:solidFill>
              <a:latin typeface="Times New Roman"/>
              <a:ea typeface="Times New Roman"/>
              <a:cs typeface="Times New Roman"/>
              <a:sym typeface="Times New Roman"/>
            </a:endParaRPr>
          </a:p>
        </p:txBody>
      </p:sp>
      <p:pic>
        <p:nvPicPr>
          <p:cNvPr id="244" name="Google Shape;244;p33"/>
          <p:cNvPicPr preferRelativeResize="0"/>
          <p:nvPr/>
        </p:nvPicPr>
        <p:blipFill rotWithShape="1">
          <a:blip r:embed="rId7">
            <a:alphaModFix/>
          </a:blip>
          <a:srcRect b="0" l="0" r="0" t="0"/>
          <a:stretch/>
        </p:blipFill>
        <p:spPr>
          <a:xfrm>
            <a:off x="335797" y="6315517"/>
            <a:ext cx="11520407" cy="3100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34"/>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pic>
        <p:nvPicPr>
          <p:cNvPr id="250" name="Google Shape;250;p34"/>
          <p:cNvPicPr preferRelativeResize="0"/>
          <p:nvPr/>
        </p:nvPicPr>
        <p:blipFill rotWithShape="1">
          <a:blip r:embed="rId4">
            <a:alphaModFix/>
          </a:blip>
          <a:srcRect b="0" l="0" r="0" t="0"/>
          <a:stretch/>
        </p:blipFill>
        <p:spPr>
          <a:xfrm>
            <a:off x="335797" y="6315517"/>
            <a:ext cx="11520407" cy="3100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